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ti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70" r:id="rId11"/>
    <p:sldId id="271" r:id="rId12"/>
    <p:sldId id="272" r:id="rId13"/>
    <p:sldId id="273" r:id="rId14"/>
    <p:sldId id="274" r:id="rId15"/>
    <p:sldId id="278" r:id="rId16"/>
    <p:sldId id="279" r:id="rId17"/>
    <p:sldId id="280" r:id="rId18"/>
    <p:sldId id="285" r:id="rId19"/>
    <p:sldId id="287" r:id="rId20"/>
    <p:sldId id="284" r:id="rId21"/>
    <p:sldId id="275" r:id="rId22"/>
    <p:sldId id="276" r:id="rId23"/>
    <p:sldId id="281" r:id="rId24"/>
    <p:sldId id="277" r:id="rId25"/>
  </p:sldIdLst>
  <p:sldSz cx="9144000" cy="6858000" type="screen4x3"/>
  <p:notesSz cx="9144000" cy="6858000"/>
  <p:defaultTextStyle>
    <a:defPPr>
      <a:defRPr lang="en-US"/>
    </a:defPPr>
    <a:lvl1pPr marL="0" algn="l" defTabSz="914400">
      <a:defRPr sz="1800">
        <a:solidFill>
          <a:schemeClr val="tx1"/>
        </a:solidFill>
        <a:latin typeface="+mn-lt"/>
        <a:ea typeface="+mn-ea"/>
        <a:cs typeface="+mn-cs"/>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a:solidFill>
                <a:schemeClr val="lt1"/>
              </a:solidFill>
            </a:ln>
          </a:left>
          <a:right>
            <a:ln w="12700">
              <a:solidFill>
                <a:schemeClr val="lt1"/>
              </a:solidFill>
            </a:ln>
          </a:right>
          <a:top>
            <a:ln w="12700">
              <a:solidFill>
                <a:schemeClr val="lt1"/>
              </a:solidFill>
            </a:ln>
          </a:top>
          <a:bottom>
            <a:ln w="12700">
              <a:solidFill>
                <a:schemeClr val="lt1"/>
              </a:solidFill>
            </a:ln>
          </a:bottom>
          <a:insideH>
            <a:ln w="12700">
              <a:solidFill>
                <a:schemeClr val="lt1"/>
              </a:solidFill>
            </a:ln>
          </a:insideH>
          <a:insideV>
            <a:ln w="12700">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fill>
          <a:solidFill>
            <a:schemeClr val="accent1">
              <a:tint val="40000"/>
            </a:schemeClr>
          </a:solidFill>
        </a:fill>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a:solidFill>
                <a:schemeClr val="lt1"/>
              </a:solidFill>
            </a:ln>
          </a:top>
        </a:tcBdr>
        <a:fill>
          <a:solidFill>
            <a:schemeClr val="accent1"/>
          </a:solidFill>
        </a:fill>
      </a:tcStyle>
    </a:lastRow>
    <a:seCell>
      <a:tcStyle>
        <a:tcBdr/>
      </a:tcStyle>
    </a:seCell>
    <a:swCell>
      <a:tcStyle>
        <a:tcBdr/>
      </a:tcStyle>
    </a:swCell>
    <a:firstRow>
      <a:tcTxStyle b="on">
        <a:fontRef idx="minor">
          <a:prstClr val="black"/>
        </a:fontRef>
        <a:schemeClr val="lt1"/>
      </a:tcTxStyle>
      <a:tcStyle>
        <a:tcBdr>
          <a:bottom>
            <a:ln w="38100">
              <a:solidFill>
                <a:schemeClr val="lt1"/>
              </a:solidFill>
            </a:ln>
          </a:bottom>
        </a:tcBdr>
        <a:fill>
          <a:solidFill>
            <a:schemeClr val="accent1"/>
          </a:solidFill>
        </a:fill>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421" autoAdjust="0"/>
    <p:restoredTop sz="94660"/>
  </p:normalViewPr>
  <p:slideViewPr>
    <p:cSldViewPr snapToGrid="0">
      <p:cViewPr varScale="1">
        <p:scale>
          <a:sx n="78" d="100"/>
          <a:sy n="78" d="100"/>
        </p:scale>
        <p:origin x="1786" y="6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96DA5C1E-C1AF-43DF-9122-4A8397A3BC08}" type="datetimeFigureOut">
              <a:rPr lang="en-IN" smtClean="0"/>
              <a:t>30-01-2025</a:t>
            </a:fld>
            <a:endParaRPr lang="en-IN"/>
          </a:p>
        </p:txBody>
      </p:sp>
      <p:sp>
        <p:nvSpPr>
          <p:cNvPr id="4" name="Slide Image Placeholder 3"/>
          <p:cNvSpPr>
            <a:spLocks noGrp="1" noRot="1" noChangeAspect="1"/>
          </p:cNvSpPr>
          <p:nvPr>
            <p:ph type="sldImg" idx="2"/>
          </p:nvPr>
        </p:nvSpPr>
        <p:spPr>
          <a:xfrm>
            <a:off x="3028950" y="857250"/>
            <a:ext cx="30861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BEA04B19-DE1E-4899-894E-3D28E28E44BA}" type="slidenum">
              <a:rPr lang="en-IN" smtClean="0"/>
              <a:t>‹#›</a:t>
            </a:fld>
            <a:endParaRPr lang="en-IN"/>
          </a:p>
        </p:txBody>
      </p:sp>
    </p:spTree>
    <p:extLst>
      <p:ext uri="{BB962C8B-B14F-4D97-AF65-F5344CB8AC3E}">
        <p14:creationId xmlns:p14="http://schemas.microsoft.com/office/powerpoint/2010/main" val="12066034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PhAnim="0" type="title" preserve="1" userDrawn="1">
  <p:cSld name="Title Slide">
    <p:spTree>
      <p:nvGrpSpPr>
        <p:cNvPr id="1" name=""/>
        <p:cNvGrpSpPr/>
        <p:nvPr/>
      </p:nvGrpSpPr>
      <p:grpSpPr bwMode="auto">
        <a:xfrm>
          <a:off x="0" y="0"/>
          <a:ext cx="0" cy="0"/>
          <a:chOff x="0" y="0"/>
          <a:chExt cx="0" cy="0"/>
        </a:xfrm>
      </p:grpSpPr>
      <p:sp>
        <p:nvSpPr>
          <p:cNvPr id="2" name="Title 1"/>
          <p:cNvSpPr>
            <a:spLocks noGrp="1"/>
          </p:cNvSpPr>
          <p:nvPr>
            <p:ph type="ctrTitle"/>
          </p:nvPr>
        </p:nvSpPr>
        <p:spPr bwMode="auto">
          <a:xfrm>
            <a:off x="685800" y="2130425"/>
            <a:ext cx="7772400" cy="1470025"/>
          </a:xfrm>
        </p:spPr>
        <p:txBody>
          <a:bodyPr/>
          <a:lstStyle/>
          <a:p>
            <a:pPr>
              <a:defRPr/>
            </a:pPr>
            <a:r>
              <a:rPr lang="en-US"/>
              <a:t>Click to edit Master title style</a:t>
            </a:r>
            <a:endParaRPr/>
          </a:p>
        </p:txBody>
      </p:sp>
      <p:sp>
        <p:nvSpPr>
          <p:cNvPr id="3" name="Subtitle 2"/>
          <p:cNvSpPr>
            <a:spLocks noGrp="1"/>
          </p:cNvSpPr>
          <p:nvPr>
            <p:ph type="subTitle" idx="1"/>
          </p:nvPr>
        </p:nvSpPr>
        <p:spPr bwMode="auto">
          <a:xfrm>
            <a:off x="1371600" y="3886200"/>
            <a:ext cx="6400800" cy="1752599"/>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a:defRPr/>
            </a:pPr>
            <a:r>
              <a:rPr lang="en-US"/>
              <a:t>Click to edit Master subtitle style</a:t>
            </a:r>
            <a:endParaRPr/>
          </a:p>
        </p:txBody>
      </p:sp>
      <p:sp>
        <p:nvSpPr>
          <p:cNvPr id="4" name="Date Placeholder 3"/>
          <p:cNvSpPr>
            <a:spLocks noGrp="1"/>
          </p:cNvSpPr>
          <p:nvPr>
            <p:ph type="dt" sz="half" idx="10"/>
          </p:nvPr>
        </p:nvSpPr>
        <p:spPr bwMode="auto"/>
        <p:txBody>
          <a:bodyPr/>
          <a:lstStyle/>
          <a:p>
            <a:pPr>
              <a:defRPr/>
            </a:pPr>
            <a:fld id="{B3BD94B3-44B9-44B7-85A7-F056FA607D46}" type="datetime3">
              <a:rPr lang="en-US"/>
              <a:t>30 January 2025</a:t>
            </a:fld>
            <a:endParaRPr lang="en-US"/>
          </a:p>
        </p:txBody>
      </p:sp>
      <p:sp>
        <p:nvSpPr>
          <p:cNvPr id="5" name="Footer Placeholder 4"/>
          <p:cNvSpPr>
            <a:spLocks noGrp="1"/>
          </p:cNvSpPr>
          <p:nvPr>
            <p:ph type="ftr" sz="quarter" idx="11"/>
          </p:nvPr>
        </p:nvSpPr>
        <p:spPr bwMode="auto"/>
        <p:txBody>
          <a:bodyPr/>
          <a:lstStyle/>
          <a:p>
            <a:pPr>
              <a:defRPr/>
            </a:pPr>
            <a:r>
              <a:rPr lang="en-US"/>
              <a:t>School of Computing - CSE</a:t>
            </a:r>
            <a:endParaRPr/>
          </a:p>
        </p:txBody>
      </p:sp>
      <p:sp>
        <p:nvSpPr>
          <p:cNvPr id="6" name="Slide Number Placeholder 5"/>
          <p:cNvSpPr>
            <a:spLocks noGrp="1"/>
          </p:cNvSpPr>
          <p:nvPr>
            <p:ph type="sldNum" sz="quarter" idx="12"/>
          </p:nvPr>
        </p:nvSpPr>
        <p:spPr bwMode="auto"/>
        <p:txBody>
          <a:bodyPr/>
          <a:lstStyle/>
          <a:p>
            <a:pPr>
              <a:defRPr/>
            </a:pPr>
            <a:fld id="{7B28076C-CE04-4A00-BFAA-A90EA8355859}" type="slidenum">
              <a:rPr lang="en-US"/>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PhAnim="0" type="obj" preserve="1" userDrawn="1">
  <p:cSld name="Title and Content">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p>
            <a:pPr>
              <a:defRPr/>
            </a:pPr>
            <a:r>
              <a:rPr lang="en-US"/>
              <a:t>Click to edit Master title style</a:t>
            </a:r>
            <a:endParaRPr/>
          </a:p>
        </p:txBody>
      </p:sp>
      <p:sp>
        <p:nvSpPr>
          <p:cNvPr id="3" name="Content Placeholder 2"/>
          <p:cNvSpPr>
            <a:spLocks noGrp="1"/>
          </p:cNvSpPr>
          <p:nvPr>
            <p:ph idx="1"/>
          </p:nvPr>
        </p:nvSpPr>
        <p:spPr bwMode="auto"/>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4" name="Date Placeholder 3"/>
          <p:cNvSpPr>
            <a:spLocks noGrp="1"/>
          </p:cNvSpPr>
          <p:nvPr>
            <p:ph type="dt" sz="half" idx="10"/>
          </p:nvPr>
        </p:nvSpPr>
        <p:spPr bwMode="auto"/>
        <p:txBody>
          <a:bodyPr/>
          <a:lstStyle/>
          <a:p>
            <a:pPr>
              <a:defRPr/>
            </a:pPr>
            <a:fld id="{EB7275DB-6D13-480B-AC77-F5019BDC5287}" type="datetime3">
              <a:rPr lang="en-US"/>
              <a:t>30 January 2025</a:t>
            </a:fld>
            <a:endParaRPr lang="en-US"/>
          </a:p>
        </p:txBody>
      </p:sp>
      <p:sp>
        <p:nvSpPr>
          <p:cNvPr id="5" name="Footer Placeholder 4"/>
          <p:cNvSpPr>
            <a:spLocks noGrp="1"/>
          </p:cNvSpPr>
          <p:nvPr>
            <p:ph type="ftr" sz="quarter" idx="11"/>
          </p:nvPr>
        </p:nvSpPr>
        <p:spPr bwMode="auto"/>
        <p:txBody>
          <a:bodyPr/>
          <a:lstStyle/>
          <a:p>
            <a:pPr>
              <a:defRPr/>
            </a:pPr>
            <a:r>
              <a:rPr lang="en-US"/>
              <a:t>School of Computing - CSE</a:t>
            </a:r>
            <a:endParaRPr/>
          </a:p>
        </p:txBody>
      </p:sp>
      <p:sp>
        <p:nvSpPr>
          <p:cNvPr id="6" name="Slide Number Placeholder 5"/>
          <p:cNvSpPr>
            <a:spLocks noGrp="1"/>
          </p:cNvSpPr>
          <p:nvPr>
            <p:ph type="sldNum" sz="quarter" idx="12"/>
          </p:nvPr>
        </p:nvSpPr>
        <p:spPr bwMode="auto"/>
        <p:txBody>
          <a:bodyPr/>
          <a:lstStyle/>
          <a:p>
            <a:pPr>
              <a:defRPr/>
            </a:pPr>
            <a:fld id="{7B28076C-CE04-4A00-BFAA-A90EA8355859}"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PhAnim="0" type="secHead" preserve="1" userDrawn="1">
  <p:cSld name="Section Header">
    <p:spTree>
      <p:nvGrpSpPr>
        <p:cNvPr id="1" name=""/>
        <p:cNvGrpSpPr/>
        <p:nvPr/>
      </p:nvGrpSpPr>
      <p:grpSpPr bwMode="auto">
        <a:xfrm>
          <a:off x="0" y="0"/>
          <a:ext cx="0" cy="0"/>
          <a:chOff x="0" y="0"/>
          <a:chExt cx="0" cy="0"/>
        </a:xfrm>
      </p:grpSpPr>
      <p:sp>
        <p:nvSpPr>
          <p:cNvPr id="2" name="Title 1"/>
          <p:cNvSpPr>
            <a:spLocks noGrp="1"/>
          </p:cNvSpPr>
          <p:nvPr>
            <p:ph type="title"/>
          </p:nvPr>
        </p:nvSpPr>
        <p:spPr bwMode="auto">
          <a:xfrm>
            <a:off x="722313" y="4406900"/>
            <a:ext cx="7772400" cy="1362075"/>
          </a:xfrm>
        </p:spPr>
        <p:txBody>
          <a:bodyPr anchor="t"/>
          <a:lstStyle>
            <a:lvl1pPr algn="l">
              <a:defRPr sz="4000" b="1" cap="all"/>
            </a:lvl1pPr>
          </a:lstStyle>
          <a:p>
            <a:pPr>
              <a:defRPr/>
            </a:pPr>
            <a:r>
              <a:rPr lang="en-US"/>
              <a:t>Click to edit Master title style</a:t>
            </a:r>
            <a:endParaRPr/>
          </a:p>
        </p:txBody>
      </p:sp>
      <p:sp>
        <p:nvSpPr>
          <p:cNvPr id="3" name="Text Placeholder 2"/>
          <p:cNvSpPr>
            <a:spLocks noGrp="1"/>
          </p:cNvSpPr>
          <p:nvPr>
            <p:ph type="body" idx="1"/>
          </p:nvPr>
        </p:nvSpPr>
        <p:spPr bwMode="auto">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defRPr/>
            </a:pPr>
            <a:r>
              <a:rPr lang="en-US"/>
              <a:t>Click to edit Master text styles</a:t>
            </a:r>
            <a:endParaRPr/>
          </a:p>
        </p:txBody>
      </p:sp>
      <p:sp>
        <p:nvSpPr>
          <p:cNvPr id="4" name="Date Placeholder 3"/>
          <p:cNvSpPr>
            <a:spLocks noGrp="1"/>
          </p:cNvSpPr>
          <p:nvPr>
            <p:ph type="dt" sz="half" idx="10"/>
          </p:nvPr>
        </p:nvSpPr>
        <p:spPr bwMode="auto"/>
        <p:txBody>
          <a:bodyPr/>
          <a:lstStyle/>
          <a:p>
            <a:pPr>
              <a:defRPr/>
            </a:pPr>
            <a:fld id="{9B2A365F-315E-4D26-B736-3944439F5E09}" type="datetime3">
              <a:rPr lang="en-US"/>
              <a:t>30 January 2025</a:t>
            </a:fld>
            <a:endParaRPr lang="en-US"/>
          </a:p>
        </p:txBody>
      </p:sp>
      <p:sp>
        <p:nvSpPr>
          <p:cNvPr id="5" name="Footer Placeholder 4"/>
          <p:cNvSpPr>
            <a:spLocks noGrp="1"/>
          </p:cNvSpPr>
          <p:nvPr>
            <p:ph type="ftr" sz="quarter" idx="11"/>
          </p:nvPr>
        </p:nvSpPr>
        <p:spPr bwMode="auto"/>
        <p:txBody>
          <a:bodyPr/>
          <a:lstStyle/>
          <a:p>
            <a:pPr>
              <a:defRPr/>
            </a:pPr>
            <a:r>
              <a:rPr lang="en-US"/>
              <a:t>School of Computing - CSE</a:t>
            </a:r>
            <a:endParaRPr/>
          </a:p>
        </p:txBody>
      </p:sp>
      <p:sp>
        <p:nvSpPr>
          <p:cNvPr id="6" name="Slide Number Placeholder 5"/>
          <p:cNvSpPr>
            <a:spLocks noGrp="1"/>
          </p:cNvSpPr>
          <p:nvPr>
            <p:ph type="sldNum" sz="quarter" idx="12"/>
          </p:nvPr>
        </p:nvSpPr>
        <p:spPr bwMode="auto"/>
        <p:txBody>
          <a:bodyPr/>
          <a:lstStyle/>
          <a:p>
            <a:pPr>
              <a:defRPr/>
            </a:pPr>
            <a:fld id="{7B28076C-CE04-4A00-BFAA-A90EA8355859}"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PhAnim="0" type="twoObj" preserve="1" userDrawn="1">
  <p:cSld name="Two Content">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p>
            <a:pPr>
              <a:defRPr/>
            </a:pPr>
            <a:r>
              <a:rPr lang="en-US"/>
              <a:t>Click to edit Master title style</a:t>
            </a:r>
            <a:endParaRPr/>
          </a:p>
        </p:txBody>
      </p:sp>
      <p:sp>
        <p:nvSpPr>
          <p:cNvPr id="3" name="Content Placeholder 2"/>
          <p:cNvSpPr>
            <a:spLocks noGrp="1"/>
          </p:cNvSpPr>
          <p:nvPr>
            <p:ph sz="half" idx="1"/>
          </p:nvPr>
        </p:nvSpPr>
        <p:spPr bwMode="auto">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4" name="Content Placeholder 3"/>
          <p:cNvSpPr>
            <a:spLocks noGrp="1"/>
          </p:cNvSpPr>
          <p:nvPr>
            <p:ph sz="half" idx="2"/>
          </p:nvPr>
        </p:nvSpPr>
        <p:spPr bwMode="auto">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5" name="Date Placeholder 4"/>
          <p:cNvSpPr>
            <a:spLocks noGrp="1"/>
          </p:cNvSpPr>
          <p:nvPr>
            <p:ph type="dt" sz="half" idx="10"/>
          </p:nvPr>
        </p:nvSpPr>
        <p:spPr bwMode="auto"/>
        <p:txBody>
          <a:bodyPr/>
          <a:lstStyle/>
          <a:p>
            <a:pPr>
              <a:defRPr/>
            </a:pPr>
            <a:fld id="{9AB1E7AE-CF1A-4AE7-BD2C-F950D278A3DB}" type="datetime3">
              <a:rPr lang="en-US"/>
              <a:t>30 January 2025</a:t>
            </a:fld>
            <a:endParaRPr lang="en-US"/>
          </a:p>
        </p:txBody>
      </p:sp>
      <p:sp>
        <p:nvSpPr>
          <p:cNvPr id="6" name="Footer Placeholder 5"/>
          <p:cNvSpPr>
            <a:spLocks noGrp="1"/>
          </p:cNvSpPr>
          <p:nvPr>
            <p:ph type="ftr" sz="quarter" idx="11"/>
          </p:nvPr>
        </p:nvSpPr>
        <p:spPr bwMode="auto"/>
        <p:txBody>
          <a:bodyPr/>
          <a:lstStyle/>
          <a:p>
            <a:pPr>
              <a:defRPr/>
            </a:pPr>
            <a:r>
              <a:rPr lang="en-US"/>
              <a:t>School of Computing - CSE</a:t>
            </a:r>
            <a:endParaRPr/>
          </a:p>
        </p:txBody>
      </p:sp>
      <p:sp>
        <p:nvSpPr>
          <p:cNvPr id="7" name="Slide Number Placeholder 6"/>
          <p:cNvSpPr>
            <a:spLocks noGrp="1"/>
          </p:cNvSpPr>
          <p:nvPr>
            <p:ph type="sldNum" sz="quarter" idx="12"/>
          </p:nvPr>
        </p:nvSpPr>
        <p:spPr bwMode="auto"/>
        <p:txBody>
          <a:bodyPr/>
          <a:lstStyle/>
          <a:p>
            <a:pPr>
              <a:defRPr/>
            </a:pPr>
            <a:fld id="{7B28076C-CE04-4A00-BFAA-A90EA8355859}"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PhAnim="0" type="twoTxTwoObj" preserve="1" userDrawn="1">
  <p:cSld name="Comparison">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lvl1pPr>
              <a:defRPr/>
            </a:lvl1pPr>
          </a:lstStyle>
          <a:p>
            <a:pPr>
              <a:defRPr/>
            </a:pPr>
            <a:r>
              <a:rPr lang="en-US"/>
              <a:t>Click to edit Master title style</a:t>
            </a:r>
            <a:endParaRPr/>
          </a:p>
        </p:txBody>
      </p:sp>
      <p:sp>
        <p:nvSpPr>
          <p:cNvPr id="3" name="Text Placeholder 2"/>
          <p:cNvSpPr>
            <a:spLocks noGrp="1"/>
          </p:cNvSpPr>
          <p:nvPr>
            <p:ph type="body" idx="1"/>
          </p:nvPr>
        </p:nvSpPr>
        <p:spPr bwMode="auto">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4" name="Content Placeholder 3"/>
          <p:cNvSpPr>
            <a:spLocks noGrp="1"/>
          </p:cNvSpPr>
          <p:nvPr>
            <p:ph sz="half" idx="2"/>
          </p:nvPr>
        </p:nvSpPr>
        <p:spPr bwMode="auto">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5" name="Text Placeholder 4"/>
          <p:cNvSpPr>
            <a:spLocks noGrp="1"/>
          </p:cNvSpPr>
          <p:nvPr>
            <p:ph type="body" sz="quarter" idx="3"/>
          </p:nvPr>
        </p:nvSpPr>
        <p:spPr bwMode="auto">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6" name="Content Placeholder 5"/>
          <p:cNvSpPr>
            <a:spLocks noGrp="1"/>
          </p:cNvSpPr>
          <p:nvPr>
            <p:ph sz="quarter" idx="4"/>
          </p:nvPr>
        </p:nvSpPr>
        <p:spPr bwMode="auto">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7" name="Date Placeholder 6"/>
          <p:cNvSpPr>
            <a:spLocks noGrp="1"/>
          </p:cNvSpPr>
          <p:nvPr>
            <p:ph type="dt" sz="half" idx="10"/>
          </p:nvPr>
        </p:nvSpPr>
        <p:spPr bwMode="auto"/>
        <p:txBody>
          <a:bodyPr/>
          <a:lstStyle/>
          <a:p>
            <a:pPr>
              <a:defRPr/>
            </a:pPr>
            <a:fld id="{2C6D51F8-804C-441D-85CA-D64DC6F78406}" type="datetime3">
              <a:rPr lang="en-US"/>
              <a:t>30 January 2025</a:t>
            </a:fld>
            <a:endParaRPr lang="en-US"/>
          </a:p>
        </p:txBody>
      </p:sp>
      <p:sp>
        <p:nvSpPr>
          <p:cNvPr id="8" name="Footer Placeholder 7"/>
          <p:cNvSpPr>
            <a:spLocks noGrp="1"/>
          </p:cNvSpPr>
          <p:nvPr>
            <p:ph type="ftr" sz="quarter" idx="11"/>
          </p:nvPr>
        </p:nvSpPr>
        <p:spPr bwMode="auto"/>
        <p:txBody>
          <a:bodyPr/>
          <a:lstStyle/>
          <a:p>
            <a:pPr>
              <a:defRPr/>
            </a:pPr>
            <a:r>
              <a:rPr lang="en-US"/>
              <a:t>School of Computing - CSE</a:t>
            </a:r>
            <a:endParaRPr/>
          </a:p>
        </p:txBody>
      </p:sp>
      <p:sp>
        <p:nvSpPr>
          <p:cNvPr id="9" name="Slide Number Placeholder 8"/>
          <p:cNvSpPr>
            <a:spLocks noGrp="1"/>
          </p:cNvSpPr>
          <p:nvPr>
            <p:ph type="sldNum" sz="quarter" idx="12"/>
          </p:nvPr>
        </p:nvSpPr>
        <p:spPr bwMode="auto"/>
        <p:txBody>
          <a:bodyPr/>
          <a:lstStyle/>
          <a:p>
            <a:pPr>
              <a:defRPr/>
            </a:pPr>
            <a:fld id="{7B28076C-CE04-4A00-BFAA-A90EA8355859}"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PhAnim="0" type="titleOnly" preserve="1" userDrawn="1">
  <p:cSld name="Title Only">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p>
            <a:pPr>
              <a:defRPr/>
            </a:pPr>
            <a:r>
              <a:rPr lang="en-US"/>
              <a:t>Click to edit Master title style</a:t>
            </a:r>
            <a:endParaRPr/>
          </a:p>
        </p:txBody>
      </p:sp>
      <p:sp>
        <p:nvSpPr>
          <p:cNvPr id="3" name="Date Placeholder 2"/>
          <p:cNvSpPr>
            <a:spLocks noGrp="1"/>
          </p:cNvSpPr>
          <p:nvPr>
            <p:ph type="dt" sz="half" idx="10"/>
          </p:nvPr>
        </p:nvSpPr>
        <p:spPr bwMode="auto"/>
        <p:txBody>
          <a:bodyPr/>
          <a:lstStyle/>
          <a:p>
            <a:pPr>
              <a:defRPr/>
            </a:pPr>
            <a:fld id="{B97CCCDB-4457-4C48-985F-BD1C33DF88D2}" type="datetime3">
              <a:rPr lang="en-US"/>
              <a:t>30 January 2025</a:t>
            </a:fld>
            <a:endParaRPr lang="en-US"/>
          </a:p>
        </p:txBody>
      </p:sp>
      <p:sp>
        <p:nvSpPr>
          <p:cNvPr id="4" name="Footer Placeholder 3"/>
          <p:cNvSpPr>
            <a:spLocks noGrp="1"/>
          </p:cNvSpPr>
          <p:nvPr>
            <p:ph type="ftr" sz="quarter" idx="11"/>
          </p:nvPr>
        </p:nvSpPr>
        <p:spPr bwMode="auto"/>
        <p:txBody>
          <a:bodyPr/>
          <a:lstStyle/>
          <a:p>
            <a:pPr>
              <a:defRPr/>
            </a:pPr>
            <a:r>
              <a:rPr lang="en-US"/>
              <a:t>School of Computing - CSE</a:t>
            </a:r>
            <a:endParaRPr/>
          </a:p>
        </p:txBody>
      </p:sp>
      <p:sp>
        <p:nvSpPr>
          <p:cNvPr id="5" name="Slide Number Placeholder 4"/>
          <p:cNvSpPr>
            <a:spLocks noGrp="1"/>
          </p:cNvSpPr>
          <p:nvPr>
            <p:ph type="sldNum" sz="quarter" idx="12"/>
          </p:nvPr>
        </p:nvSpPr>
        <p:spPr bwMode="auto"/>
        <p:txBody>
          <a:bodyPr/>
          <a:lstStyle/>
          <a:p>
            <a:pPr>
              <a:defRPr/>
            </a:pPr>
            <a:fld id="{7B28076C-CE04-4A00-BFAA-A90EA8355859}"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PhAnim="0" type="blank" preserve="1" userDrawn="1">
  <p:cSld name="Blank">
    <p:spTree>
      <p:nvGrpSpPr>
        <p:cNvPr id="1" name=""/>
        <p:cNvGrpSpPr/>
        <p:nvPr/>
      </p:nvGrpSpPr>
      <p:grpSpPr bwMode="auto">
        <a:xfrm>
          <a:off x="0" y="0"/>
          <a:ext cx="0" cy="0"/>
          <a:chOff x="0" y="0"/>
          <a:chExt cx="0" cy="0"/>
        </a:xfrm>
      </p:grpSpPr>
      <p:sp>
        <p:nvSpPr>
          <p:cNvPr id="2" name="Date Placeholder 1"/>
          <p:cNvSpPr>
            <a:spLocks noGrp="1"/>
          </p:cNvSpPr>
          <p:nvPr>
            <p:ph type="dt" sz="half" idx="10"/>
          </p:nvPr>
        </p:nvSpPr>
        <p:spPr bwMode="auto"/>
        <p:txBody>
          <a:bodyPr/>
          <a:lstStyle/>
          <a:p>
            <a:pPr>
              <a:defRPr/>
            </a:pPr>
            <a:fld id="{C3F4AF7E-7813-4879-8B55-5575B0080D39}" type="datetime3">
              <a:rPr lang="en-US"/>
              <a:t>30 January 2025</a:t>
            </a:fld>
            <a:endParaRPr lang="en-US"/>
          </a:p>
        </p:txBody>
      </p:sp>
      <p:sp>
        <p:nvSpPr>
          <p:cNvPr id="3" name="Footer Placeholder 2"/>
          <p:cNvSpPr>
            <a:spLocks noGrp="1"/>
          </p:cNvSpPr>
          <p:nvPr>
            <p:ph type="ftr" sz="quarter" idx="11"/>
          </p:nvPr>
        </p:nvSpPr>
        <p:spPr bwMode="auto"/>
        <p:txBody>
          <a:bodyPr/>
          <a:lstStyle/>
          <a:p>
            <a:pPr>
              <a:defRPr/>
            </a:pPr>
            <a:r>
              <a:rPr lang="en-US"/>
              <a:t>School of Computing - CSE</a:t>
            </a:r>
            <a:endParaRPr/>
          </a:p>
        </p:txBody>
      </p:sp>
      <p:sp>
        <p:nvSpPr>
          <p:cNvPr id="4" name="Slide Number Placeholder 3"/>
          <p:cNvSpPr>
            <a:spLocks noGrp="1"/>
          </p:cNvSpPr>
          <p:nvPr>
            <p:ph type="sldNum" sz="quarter" idx="12"/>
          </p:nvPr>
        </p:nvSpPr>
        <p:spPr bwMode="auto"/>
        <p:txBody>
          <a:bodyPr/>
          <a:lstStyle/>
          <a:p>
            <a:pPr>
              <a:defRPr/>
            </a:pPr>
            <a:fld id="{7B28076C-CE04-4A00-BFAA-A90EA8355859}" type="slidenum">
              <a:rPr lang="en-US"/>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PhAnim="0" type="objTx" preserve="1" userDrawn="1">
  <p:cSld name="Content with Caption">
    <p:spTree>
      <p:nvGrpSpPr>
        <p:cNvPr id="1" name=""/>
        <p:cNvGrpSpPr/>
        <p:nvPr/>
      </p:nvGrpSpPr>
      <p:grpSpPr bwMode="auto">
        <a:xfrm>
          <a:off x="0" y="0"/>
          <a:ext cx="0" cy="0"/>
          <a:chOff x="0" y="0"/>
          <a:chExt cx="0" cy="0"/>
        </a:xfrm>
      </p:grpSpPr>
      <p:sp>
        <p:nvSpPr>
          <p:cNvPr id="2" name="Title 1"/>
          <p:cNvSpPr>
            <a:spLocks noGrp="1"/>
          </p:cNvSpPr>
          <p:nvPr>
            <p:ph type="title"/>
          </p:nvPr>
        </p:nvSpPr>
        <p:spPr bwMode="auto">
          <a:xfrm>
            <a:off x="457200" y="273050"/>
            <a:ext cx="3008313" cy="1162050"/>
          </a:xfrm>
        </p:spPr>
        <p:txBody>
          <a:bodyPr anchor="b"/>
          <a:lstStyle>
            <a:lvl1pPr algn="l">
              <a:defRPr sz="2000" b="1"/>
            </a:lvl1pPr>
          </a:lstStyle>
          <a:p>
            <a:pPr>
              <a:defRPr/>
            </a:pPr>
            <a:r>
              <a:rPr lang="en-US"/>
              <a:t>Click to edit Master title style</a:t>
            </a:r>
            <a:endParaRPr/>
          </a:p>
        </p:txBody>
      </p:sp>
      <p:sp>
        <p:nvSpPr>
          <p:cNvPr id="3" name="Content Placeholder 2"/>
          <p:cNvSpPr>
            <a:spLocks noGrp="1"/>
          </p:cNvSpPr>
          <p:nvPr>
            <p:ph idx="1"/>
          </p:nvPr>
        </p:nvSpPr>
        <p:spPr bwMode="auto">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4" name="Text Placeholder 3"/>
          <p:cNvSpPr>
            <a:spLocks noGrp="1"/>
          </p:cNvSpPr>
          <p:nvPr>
            <p:ph type="body" sz="half" idx="2"/>
          </p:nvPr>
        </p:nvSpPr>
        <p:spPr bwMode="auto">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pPr>
            <a:r>
              <a:rPr lang="en-US"/>
              <a:t>Click to edit Master text styles</a:t>
            </a:r>
            <a:endParaRPr/>
          </a:p>
        </p:txBody>
      </p:sp>
      <p:sp>
        <p:nvSpPr>
          <p:cNvPr id="5" name="Date Placeholder 4"/>
          <p:cNvSpPr>
            <a:spLocks noGrp="1"/>
          </p:cNvSpPr>
          <p:nvPr>
            <p:ph type="dt" sz="half" idx="10"/>
          </p:nvPr>
        </p:nvSpPr>
        <p:spPr bwMode="auto"/>
        <p:txBody>
          <a:bodyPr/>
          <a:lstStyle/>
          <a:p>
            <a:pPr>
              <a:defRPr/>
            </a:pPr>
            <a:fld id="{19EC94D0-F97F-48E4-A142-9DA614267486}" type="datetime3">
              <a:rPr lang="en-US"/>
              <a:t>30 January 2025</a:t>
            </a:fld>
            <a:endParaRPr lang="en-US"/>
          </a:p>
        </p:txBody>
      </p:sp>
      <p:sp>
        <p:nvSpPr>
          <p:cNvPr id="6" name="Footer Placeholder 5"/>
          <p:cNvSpPr>
            <a:spLocks noGrp="1"/>
          </p:cNvSpPr>
          <p:nvPr>
            <p:ph type="ftr" sz="quarter" idx="11"/>
          </p:nvPr>
        </p:nvSpPr>
        <p:spPr bwMode="auto"/>
        <p:txBody>
          <a:bodyPr/>
          <a:lstStyle/>
          <a:p>
            <a:pPr>
              <a:defRPr/>
            </a:pPr>
            <a:r>
              <a:rPr lang="en-US"/>
              <a:t>School of Computing - CSE</a:t>
            </a:r>
            <a:endParaRPr/>
          </a:p>
        </p:txBody>
      </p:sp>
      <p:sp>
        <p:nvSpPr>
          <p:cNvPr id="7" name="Slide Number Placeholder 6"/>
          <p:cNvSpPr>
            <a:spLocks noGrp="1"/>
          </p:cNvSpPr>
          <p:nvPr>
            <p:ph type="sldNum" sz="quarter" idx="12"/>
          </p:nvPr>
        </p:nvSpPr>
        <p:spPr bwMode="auto"/>
        <p:txBody>
          <a:bodyPr/>
          <a:lstStyle/>
          <a:p>
            <a:pPr>
              <a:defRPr/>
            </a:pPr>
            <a:fld id="{7B28076C-CE04-4A00-BFAA-A90EA8355859}" type="slidenum">
              <a:rPr lang="en-US"/>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PhAnim="0" type="picTx" preserve="1" userDrawn="1">
  <p:cSld name="Picture with Caption">
    <p:spTree>
      <p:nvGrpSpPr>
        <p:cNvPr id="1" name=""/>
        <p:cNvGrpSpPr/>
        <p:nvPr/>
      </p:nvGrpSpPr>
      <p:grpSpPr bwMode="auto">
        <a:xfrm>
          <a:off x="0" y="0"/>
          <a:ext cx="0" cy="0"/>
          <a:chOff x="0" y="0"/>
          <a:chExt cx="0" cy="0"/>
        </a:xfrm>
      </p:grpSpPr>
      <p:sp>
        <p:nvSpPr>
          <p:cNvPr id="2" name="Title 1"/>
          <p:cNvSpPr>
            <a:spLocks noGrp="1"/>
          </p:cNvSpPr>
          <p:nvPr>
            <p:ph type="title"/>
          </p:nvPr>
        </p:nvSpPr>
        <p:spPr bwMode="auto">
          <a:xfrm>
            <a:off x="1792288" y="4800600"/>
            <a:ext cx="5486400" cy="566738"/>
          </a:xfrm>
        </p:spPr>
        <p:txBody>
          <a:bodyPr anchor="b"/>
          <a:lstStyle>
            <a:lvl1pPr algn="l">
              <a:defRPr sz="2000" b="1"/>
            </a:lvl1pPr>
          </a:lstStyle>
          <a:p>
            <a:pPr>
              <a:defRPr/>
            </a:pPr>
            <a:r>
              <a:rPr lang="en-US"/>
              <a:t>Click to edit Master title style</a:t>
            </a:r>
            <a:endParaRPr/>
          </a:p>
        </p:txBody>
      </p:sp>
      <p:sp>
        <p:nvSpPr>
          <p:cNvPr id="3" name="Picture Placeholder 2"/>
          <p:cNvSpPr>
            <a:spLocks noGrp="1"/>
          </p:cNvSpPr>
          <p:nvPr>
            <p:ph type="pic" idx="1"/>
          </p:nvPr>
        </p:nvSpPr>
        <p:spPr bwMode="auto">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endParaRPr lang="en-US"/>
          </a:p>
        </p:txBody>
      </p:sp>
      <p:sp>
        <p:nvSpPr>
          <p:cNvPr id="4" name="Text Placeholder 3"/>
          <p:cNvSpPr>
            <a:spLocks noGrp="1"/>
          </p:cNvSpPr>
          <p:nvPr>
            <p:ph type="body" sz="half" idx="2"/>
          </p:nvPr>
        </p:nvSpPr>
        <p:spPr bwMode="auto">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pPr>
            <a:r>
              <a:rPr lang="en-US"/>
              <a:t>Click to edit Master text styles</a:t>
            </a:r>
            <a:endParaRPr/>
          </a:p>
        </p:txBody>
      </p:sp>
      <p:sp>
        <p:nvSpPr>
          <p:cNvPr id="5" name="Date Placeholder 4"/>
          <p:cNvSpPr>
            <a:spLocks noGrp="1"/>
          </p:cNvSpPr>
          <p:nvPr>
            <p:ph type="dt" sz="half" idx="10"/>
          </p:nvPr>
        </p:nvSpPr>
        <p:spPr bwMode="auto"/>
        <p:txBody>
          <a:bodyPr/>
          <a:lstStyle/>
          <a:p>
            <a:pPr>
              <a:defRPr/>
            </a:pPr>
            <a:fld id="{557DA9B2-FBCA-4233-9590-C0754509BDB5}" type="datetime3">
              <a:rPr lang="en-US"/>
              <a:t>30 January 2025</a:t>
            </a:fld>
            <a:endParaRPr lang="en-US"/>
          </a:p>
        </p:txBody>
      </p:sp>
      <p:sp>
        <p:nvSpPr>
          <p:cNvPr id="6" name="Footer Placeholder 5"/>
          <p:cNvSpPr>
            <a:spLocks noGrp="1"/>
          </p:cNvSpPr>
          <p:nvPr>
            <p:ph type="ftr" sz="quarter" idx="11"/>
          </p:nvPr>
        </p:nvSpPr>
        <p:spPr bwMode="auto"/>
        <p:txBody>
          <a:bodyPr/>
          <a:lstStyle/>
          <a:p>
            <a:pPr>
              <a:defRPr/>
            </a:pPr>
            <a:r>
              <a:rPr lang="en-US"/>
              <a:t>School of Computing - CSE</a:t>
            </a:r>
            <a:endParaRPr/>
          </a:p>
        </p:txBody>
      </p:sp>
      <p:sp>
        <p:nvSpPr>
          <p:cNvPr id="7" name="Slide Number Placeholder 6"/>
          <p:cNvSpPr>
            <a:spLocks noGrp="1"/>
          </p:cNvSpPr>
          <p:nvPr>
            <p:ph type="sldNum" sz="quarter" idx="12"/>
          </p:nvPr>
        </p:nvSpPr>
        <p:spPr bwMode="auto"/>
        <p:txBody>
          <a:bodyPr/>
          <a:lstStyle/>
          <a:p>
            <a:pPr>
              <a:defRPr/>
            </a:pPr>
            <a:fld id="{7B28076C-CE04-4A00-BFAA-A90EA8355859}" type="slidenum">
              <a:rPr lang="en-US"/>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PhAnim="0" type="vertTx" preserve="1" userDrawn="1">
  <p:cSld name="Title and Vertical Text">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p>
            <a:pPr>
              <a:defRPr/>
            </a:pPr>
            <a:r>
              <a:rPr lang="en-US"/>
              <a:t>Click to edit Master title style</a:t>
            </a:r>
            <a:endParaRPr/>
          </a:p>
        </p:txBody>
      </p:sp>
      <p:sp>
        <p:nvSpPr>
          <p:cNvPr id="3" name="Vertical Text Placeholder 2"/>
          <p:cNvSpPr>
            <a:spLocks noGrp="1"/>
          </p:cNvSpPr>
          <p:nvPr>
            <p:ph type="body" orient="vert" idx="1"/>
          </p:nvPr>
        </p:nvSpPr>
        <p:spPr bwMode="auto"/>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4" name="Date Placeholder 3"/>
          <p:cNvSpPr>
            <a:spLocks noGrp="1"/>
          </p:cNvSpPr>
          <p:nvPr>
            <p:ph type="dt" sz="half" idx="10"/>
          </p:nvPr>
        </p:nvSpPr>
        <p:spPr bwMode="auto"/>
        <p:txBody>
          <a:bodyPr/>
          <a:lstStyle/>
          <a:p>
            <a:pPr>
              <a:defRPr/>
            </a:pPr>
            <a:fld id="{C6B910C5-081D-4FA6-9B78-BB56BEB475DD}" type="datetime3">
              <a:rPr lang="en-US"/>
              <a:t>30 January 2025</a:t>
            </a:fld>
            <a:endParaRPr lang="en-US"/>
          </a:p>
        </p:txBody>
      </p:sp>
      <p:sp>
        <p:nvSpPr>
          <p:cNvPr id="5" name="Footer Placeholder 4"/>
          <p:cNvSpPr>
            <a:spLocks noGrp="1"/>
          </p:cNvSpPr>
          <p:nvPr>
            <p:ph type="ftr" sz="quarter" idx="11"/>
          </p:nvPr>
        </p:nvSpPr>
        <p:spPr bwMode="auto"/>
        <p:txBody>
          <a:bodyPr/>
          <a:lstStyle/>
          <a:p>
            <a:pPr>
              <a:defRPr/>
            </a:pPr>
            <a:r>
              <a:rPr lang="en-US"/>
              <a:t>School of Computing - CSE</a:t>
            </a:r>
            <a:endParaRPr/>
          </a:p>
        </p:txBody>
      </p:sp>
      <p:sp>
        <p:nvSpPr>
          <p:cNvPr id="6" name="Slide Number Placeholder 5"/>
          <p:cNvSpPr>
            <a:spLocks noGrp="1"/>
          </p:cNvSpPr>
          <p:nvPr>
            <p:ph type="sldNum" sz="quarter" idx="12"/>
          </p:nvPr>
        </p:nvSpPr>
        <p:spPr bwMode="auto"/>
        <p:txBody>
          <a:bodyPr/>
          <a:lstStyle/>
          <a:p>
            <a:pPr>
              <a:defRPr/>
            </a:pPr>
            <a:fld id="{7B28076C-CE04-4A00-BFAA-A90EA8355859}" type="slidenum">
              <a:rPr lang="en-US"/>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PhAnim="0" type="vertTitleAndTx" preserve="1" userDrawn="1">
  <p:cSld name="Vertical Title and Text">
    <p:spTree>
      <p:nvGrpSpPr>
        <p:cNvPr id="1" name=""/>
        <p:cNvGrpSpPr/>
        <p:nvPr/>
      </p:nvGrpSpPr>
      <p:grpSpPr bwMode="auto">
        <a:xfrm>
          <a:off x="0" y="0"/>
          <a:ext cx="0" cy="0"/>
          <a:chOff x="0" y="0"/>
          <a:chExt cx="0" cy="0"/>
        </a:xfrm>
      </p:grpSpPr>
      <p:sp>
        <p:nvSpPr>
          <p:cNvPr id="2" name="Vertical Title 1"/>
          <p:cNvSpPr>
            <a:spLocks noGrp="1"/>
          </p:cNvSpPr>
          <p:nvPr>
            <p:ph type="title" orient="vert"/>
          </p:nvPr>
        </p:nvSpPr>
        <p:spPr bwMode="auto">
          <a:xfrm>
            <a:off x="6629400" y="274638"/>
            <a:ext cx="2057400" cy="5851525"/>
          </a:xfrm>
        </p:spPr>
        <p:txBody>
          <a:bodyPr vert="eaVert"/>
          <a:lstStyle/>
          <a:p>
            <a:pPr>
              <a:defRPr/>
            </a:pPr>
            <a:r>
              <a:rPr lang="en-US"/>
              <a:t>Click to edit Master title style</a:t>
            </a:r>
            <a:endParaRPr/>
          </a:p>
        </p:txBody>
      </p:sp>
      <p:sp>
        <p:nvSpPr>
          <p:cNvPr id="3" name="Vertical Text Placeholder 2"/>
          <p:cNvSpPr>
            <a:spLocks noGrp="1"/>
          </p:cNvSpPr>
          <p:nvPr>
            <p:ph type="body" orient="vert" idx="1"/>
          </p:nvPr>
        </p:nvSpPr>
        <p:spPr bwMode="auto">
          <a:xfrm>
            <a:off x="457200" y="274638"/>
            <a:ext cx="6019800" cy="5851525"/>
          </a:xfrm>
        </p:spPr>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4" name="Date Placeholder 3"/>
          <p:cNvSpPr>
            <a:spLocks noGrp="1"/>
          </p:cNvSpPr>
          <p:nvPr>
            <p:ph type="dt" sz="half" idx="10"/>
          </p:nvPr>
        </p:nvSpPr>
        <p:spPr bwMode="auto"/>
        <p:txBody>
          <a:bodyPr/>
          <a:lstStyle/>
          <a:p>
            <a:pPr>
              <a:defRPr/>
            </a:pPr>
            <a:fld id="{418360AF-72BE-4445-B200-736511B20555}" type="datetime3">
              <a:rPr lang="en-US"/>
              <a:t>30 January 2025</a:t>
            </a:fld>
            <a:endParaRPr lang="en-US"/>
          </a:p>
        </p:txBody>
      </p:sp>
      <p:sp>
        <p:nvSpPr>
          <p:cNvPr id="5" name="Footer Placeholder 4"/>
          <p:cNvSpPr>
            <a:spLocks noGrp="1"/>
          </p:cNvSpPr>
          <p:nvPr>
            <p:ph type="ftr" sz="quarter" idx="11"/>
          </p:nvPr>
        </p:nvSpPr>
        <p:spPr bwMode="auto"/>
        <p:txBody>
          <a:bodyPr/>
          <a:lstStyle/>
          <a:p>
            <a:pPr>
              <a:defRPr/>
            </a:pPr>
            <a:r>
              <a:rPr lang="en-US"/>
              <a:t>School of Computing - CSE</a:t>
            </a:r>
            <a:endParaRPr/>
          </a:p>
        </p:txBody>
      </p:sp>
      <p:sp>
        <p:nvSpPr>
          <p:cNvPr id="6" name="Slide Number Placeholder 5"/>
          <p:cNvSpPr>
            <a:spLocks noGrp="1"/>
          </p:cNvSpPr>
          <p:nvPr>
            <p:ph type="sldNum" sz="quarter" idx="12"/>
          </p:nvPr>
        </p:nvSpPr>
        <p:spPr bwMode="auto"/>
        <p:txBody>
          <a:bodyPr/>
          <a:lstStyle/>
          <a:p>
            <a:pPr>
              <a:defRPr/>
            </a:pPr>
            <a:fld id="{7B28076C-CE04-4A00-BFAA-A90EA8355859}" type="slidenum">
              <a:rPr lang="en-US"/>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PhAnim="0" preserve="1" userDrawn="1">
  <p:cSld name="1_Title and Content">
    <p:spTree>
      <p:nvGrpSpPr>
        <p:cNvPr id="1" name=""/>
        <p:cNvGrpSpPr/>
        <p:nvPr/>
      </p:nvGrpSpPr>
      <p:grpSpPr bwMode="auto">
        <a:xfrm>
          <a:off x="0" y="0"/>
          <a:ext cx="0" cy="0"/>
          <a:chOff x="0" y="0"/>
          <a:chExt cx="0" cy="0"/>
        </a:xfrm>
      </p:grpSpPr>
      <p:sp>
        <p:nvSpPr>
          <p:cNvPr id="3" name="Content Placeholder 2"/>
          <p:cNvSpPr>
            <a:spLocks noGrp="1"/>
          </p:cNvSpPr>
          <p:nvPr>
            <p:ph idx="1"/>
          </p:nvPr>
        </p:nvSpPr>
        <p:spPr bwMode="auto">
          <a:xfrm>
            <a:off x="457200" y="1600200"/>
            <a:ext cx="8229600" cy="4525963"/>
          </a:xfrm>
          <a:prstGeom prst="rect">
            <a:avLst/>
          </a:prstGeo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4" name="Date Placeholder 3"/>
          <p:cNvSpPr>
            <a:spLocks noGrp="1"/>
          </p:cNvSpPr>
          <p:nvPr>
            <p:ph type="dt" sz="half" idx="10"/>
          </p:nvPr>
        </p:nvSpPr>
        <p:spPr bwMode="auto">
          <a:prstGeom prst="rect">
            <a:avLst/>
          </a:prstGeom>
          <a:noFill/>
          <a:ln>
            <a:noFill/>
          </a:ln>
          <a:effectLst>
            <a:outerShdw blurRad="50800" dist="50800" dir="5400000" algn="ctr" rotWithShape="0">
              <a:schemeClr val="bg1"/>
            </a:outerShdw>
          </a:effectLst>
        </p:spPr>
        <p:txBody>
          <a:bodyPr/>
          <a:lstStyle>
            <a:lvl1pPr>
              <a:defRPr>
                <a:solidFill>
                  <a:schemeClr val="accent6">
                    <a:lumMod val="50000"/>
                  </a:schemeClr>
                </a:solidFill>
              </a:defRPr>
            </a:lvl1pPr>
          </a:lstStyle>
          <a:p>
            <a:pPr>
              <a:defRPr/>
            </a:pPr>
            <a:fld id="{10B6530B-5C68-4965-B8A9-8C18D26903BD}" type="datetime3">
              <a:rPr lang="en-US"/>
              <a:t>30 January 2025</a:t>
            </a:fld>
            <a:endParaRPr lang="en-US"/>
          </a:p>
        </p:txBody>
      </p:sp>
      <p:sp>
        <p:nvSpPr>
          <p:cNvPr id="5" name="Footer Placeholder 4"/>
          <p:cNvSpPr>
            <a:spLocks noGrp="1"/>
          </p:cNvSpPr>
          <p:nvPr>
            <p:ph type="ftr" sz="quarter" idx="11"/>
          </p:nvPr>
        </p:nvSpPr>
        <p:spPr bwMode="auto"/>
        <p:txBody>
          <a:bodyPr/>
          <a:lstStyle>
            <a:lvl1pPr>
              <a:defRPr>
                <a:solidFill>
                  <a:schemeClr val="accent6">
                    <a:lumMod val="50000"/>
                  </a:schemeClr>
                </a:solidFill>
              </a:defRPr>
            </a:lvl1pPr>
          </a:lstStyle>
          <a:p>
            <a:pPr>
              <a:defRPr/>
            </a:pPr>
            <a:r>
              <a:rPr lang="en-US"/>
              <a:t>School of Computing - CSE</a:t>
            </a:r>
            <a:endParaRPr/>
          </a:p>
        </p:txBody>
      </p:sp>
      <p:sp>
        <p:nvSpPr>
          <p:cNvPr id="6" name="Slide Number Placeholder 5"/>
          <p:cNvSpPr>
            <a:spLocks noGrp="1"/>
          </p:cNvSpPr>
          <p:nvPr>
            <p:ph type="sldNum" sz="quarter" idx="12"/>
          </p:nvPr>
        </p:nvSpPr>
        <p:spPr bwMode="auto"/>
        <p:txBody>
          <a:bodyPr/>
          <a:lstStyle>
            <a:lvl1pPr>
              <a:defRPr>
                <a:solidFill>
                  <a:schemeClr val="accent6">
                    <a:lumMod val="50000"/>
                  </a:schemeClr>
                </a:solidFill>
              </a:defRPr>
            </a:lvl1pPr>
          </a:lstStyle>
          <a:p>
            <a:pPr>
              <a:defRPr/>
            </a:pPr>
            <a:fld id="{C0EC1BDC-9B67-430D-970A-E36C75175141}" type="slidenum">
              <a:rPr lang="en-US"/>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bwMode="auto">
        <a:xfrm>
          <a:off x="0" y="0"/>
          <a:ext cx="0" cy="0"/>
          <a:chOff x="0" y="0"/>
          <a:chExt cx="0" cy="0"/>
        </a:xfrm>
      </p:grpSpPr>
      <p:sp>
        <p:nvSpPr>
          <p:cNvPr id="2" name="Title Placeholder 1"/>
          <p:cNvSpPr>
            <a:spLocks noGrp="1"/>
          </p:cNvSpPr>
          <p:nvPr>
            <p:ph type="title"/>
          </p:nvPr>
        </p:nvSpPr>
        <p:spPr bwMode="auto">
          <a:xfrm>
            <a:off x="298940" y="228600"/>
            <a:ext cx="8229600" cy="1143000"/>
          </a:xfrm>
          <a:prstGeom prst="rect">
            <a:avLst/>
          </a:prstGeom>
        </p:spPr>
        <p:txBody>
          <a:bodyPr vert="horz" lIns="91440" tIns="45720" rIns="91440" bIns="45720" rtlCol="0" anchor="ctr">
            <a:normAutofit/>
          </a:bodyPr>
          <a:lstStyle/>
          <a:p>
            <a:pPr>
              <a:defRPr/>
            </a:pPr>
            <a:r>
              <a:rPr lang="en-US"/>
              <a:t>Click to edit Master title style</a:t>
            </a:r>
            <a:endParaRPr/>
          </a:p>
        </p:txBody>
      </p:sp>
      <p:sp>
        <p:nvSpPr>
          <p:cNvPr id="3" name="Text Placeholder 2"/>
          <p:cNvSpPr>
            <a:spLocks noGrp="1"/>
          </p:cNvSpPr>
          <p:nvPr>
            <p:ph type="body" idx="1"/>
          </p:nvPr>
        </p:nvSpPr>
        <p:spPr bwMode="auto">
          <a:xfrm>
            <a:off x="457200" y="1600200"/>
            <a:ext cx="8229600" cy="4525963"/>
          </a:xfrm>
          <a:prstGeom prst="rect">
            <a:avLst/>
          </a:prstGeom>
        </p:spPr>
        <p:txBody>
          <a:bodyPr vert="horz" lIns="91440" tIns="45720" rIns="91440" bIns="45720" rtlCol="0">
            <a:normAutofit/>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4" name="Date Placeholder 3"/>
          <p:cNvSpPr>
            <a:spLocks noGrp="1"/>
          </p:cNvSpPr>
          <p:nvPr>
            <p:ph type="dt" sz="half" idx="2"/>
          </p:nvPr>
        </p:nvSpPr>
        <p:spPr bwMode="auto">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484D4881-3C1B-4E10-8E47-87CE42F43D14}" type="datetime3">
              <a:rPr lang="en-US"/>
              <a:t>30 January 2025</a:t>
            </a:fld>
            <a:endParaRPr lang="en-US"/>
          </a:p>
        </p:txBody>
      </p:sp>
      <p:sp>
        <p:nvSpPr>
          <p:cNvPr id="5" name="Footer Placeholder 4"/>
          <p:cNvSpPr>
            <a:spLocks noGrp="1"/>
          </p:cNvSpPr>
          <p:nvPr>
            <p:ph type="ftr" sz="quarter" idx="3"/>
          </p:nvPr>
        </p:nvSpPr>
        <p:spPr bwMode="auto">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r>
              <a:rPr lang="en-US"/>
              <a:t>School of Computing - CSE</a:t>
            </a:r>
            <a:endParaRPr/>
          </a:p>
        </p:txBody>
      </p:sp>
      <p:sp>
        <p:nvSpPr>
          <p:cNvPr id="6" name="Slide Number Placeholder 5"/>
          <p:cNvSpPr>
            <a:spLocks noGrp="1"/>
          </p:cNvSpPr>
          <p:nvPr>
            <p:ph type="sldNum" sz="quarter" idx="4"/>
          </p:nvPr>
        </p:nvSpPr>
        <p:spPr bwMode="auto">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7B28076C-CE04-4A00-BFAA-A90EA8355859}" type="slidenum">
              <a:rPr lang="en-US"/>
              <a:t>‹#›</a:t>
            </a:fld>
            <a:endParaRPr lang="en-US"/>
          </a:p>
        </p:txBody>
      </p:sp>
      <p:sp>
        <p:nvSpPr>
          <p:cNvPr id="8" name="Rectangle 7"/>
          <p:cNvSpPr/>
          <p:nvPr userDrawn="1"/>
        </p:nvSpPr>
        <p:spPr bwMode="auto">
          <a:xfrm>
            <a:off x="298940" y="177143"/>
            <a:ext cx="8610600" cy="6553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cxnSp>
        <p:nvCxnSpPr>
          <p:cNvPr id="9" name="Straight Connector 8"/>
          <p:cNvCxnSpPr>
            <a:cxnSpLocks/>
          </p:cNvCxnSpPr>
          <p:nvPr userDrawn="1"/>
        </p:nvCxnSpPr>
        <p:spPr bwMode="auto">
          <a:xfrm>
            <a:off x="298940" y="1219200"/>
            <a:ext cx="8610600" cy="1587"/>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p:txStyles>
    <p:titleStyle>
      <a:lvl1pPr algn="ctr" defTabSz="914400">
        <a:spcBef>
          <a:spcPts val="0"/>
        </a:spcBef>
        <a:buNone/>
        <a:defRPr sz="4400">
          <a:solidFill>
            <a:schemeClr val="tx1"/>
          </a:solidFill>
          <a:latin typeface="+mj-lt"/>
          <a:ea typeface="+mj-ea"/>
          <a:cs typeface="+mj-cs"/>
        </a:defRPr>
      </a:lvl1pPr>
    </p:titleStyle>
    <p:bodyStyle>
      <a:lvl1pPr marL="342900" indent="-342900" algn="l" defTabSz="914400">
        <a:spcBef>
          <a:spcPts val="0"/>
        </a:spcBef>
        <a:buFont typeface="Arial"/>
        <a:buChar char="•"/>
        <a:defRPr sz="3200">
          <a:solidFill>
            <a:schemeClr val="tx1"/>
          </a:solidFill>
          <a:latin typeface="+mn-lt"/>
          <a:ea typeface="+mn-ea"/>
          <a:cs typeface="+mn-cs"/>
        </a:defRPr>
      </a:lvl1pPr>
      <a:lvl2pPr marL="742950" indent="-285750" algn="l" defTabSz="914400">
        <a:spcBef>
          <a:spcPts val="0"/>
        </a:spcBef>
        <a:buFont typeface="Arial"/>
        <a:buChar char="–"/>
        <a:defRPr sz="2800">
          <a:solidFill>
            <a:schemeClr val="tx1"/>
          </a:solidFill>
          <a:latin typeface="+mn-lt"/>
          <a:ea typeface="+mn-ea"/>
          <a:cs typeface="+mn-cs"/>
        </a:defRPr>
      </a:lvl2pPr>
      <a:lvl3pPr marL="1143000" indent="-228600" algn="l" defTabSz="914400">
        <a:spcBef>
          <a:spcPts val="0"/>
        </a:spcBef>
        <a:buFont typeface="Arial"/>
        <a:buChar char="•"/>
        <a:defRPr sz="2400">
          <a:solidFill>
            <a:schemeClr val="tx1"/>
          </a:solidFill>
          <a:latin typeface="+mn-lt"/>
          <a:ea typeface="+mn-ea"/>
          <a:cs typeface="+mn-cs"/>
        </a:defRPr>
      </a:lvl3pPr>
      <a:lvl4pPr marL="1600200" indent="-228600" algn="l" defTabSz="914400">
        <a:spcBef>
          <a:spcPts val="0"/>
        </a:spcBef>
        <a:buFont typeface="Arial"/>
        <a:buChar char="–"/>
        <a:defRPr sz="2000">
          <a:solidFill>
            <a:schemeClr val="tx1"/>
          </a:solidFill>
          <a:latin typeface="+mn-lt"/>
          <a:ea typeface="+mn-ea"/>
          <a:cs typeface="+mn-cs"/>
        </a:defRPr>
      </a:lvl4pPr>
      <a:lvl5pPr marL="2057400" indent="-228600" algn="l" defTabSz="914400">
        <a:spcBef>
          <a:spcPts val="0"/>
        </a:spcBef>
        <a:buFont typeface="Arial"/>
        <a:buChar char="»"/>
        <a:defRPr sz="2000">
          <a:solidFill>
            <a:schemeClr val="tx1"/>
          </a:solidFill>
          <a:latin typeface="+mn-lt"/>
          <a:ea typeface="+mn-ea"/>
          <a:cs typeface="+mn-cs"/>
        </a:defRPr>
      </a:lvl5pPr>
      <a:lvl6pPr marL="2514600" indent="-228600" algn="l" defTabSz="914400">
        <a:spcBef>
          <a:spcPts val="0"/>
        </a:spcBef>
        <a:buFont typeface="Arial"/>
        <a:buChar char="•"/>
        <a:defRPr sz="2000">
          <a:solidFill>
            <a:schemeClr val="tx1"/>
          </a:solidFill>
          <a:latin typeface="+mn-lt"/>
          <a:ea typeface="+mn-ea"/>
          <a:cs typeface="+mn-cs"/>
        </a:defRPr>
      </a:lvl6pPr>
      <a:lvl7pPr marL="2971800" indent="-228600" algn="l" defTabSz="914400">
        <a:spcBef>
          <a:spcPts val="0"/>
        </a:spcBef>
        <a:buFont typeface="Arial"/>
        <a:buChar char="•"/>
        <a:defRPr sz="2000">
          <a:solidFill>
            <a:schemeClr val="tx1"/>
          </a:solidFill>
          <a:latin typeface="+mn-lt"/>
          <a:ea typeface="+mn-ea"/>
          <a:cs typeface="+mn-cs"/>
        </a:defRPr>
      </a:lvl7pPr>
      <a:lvl8pPr marL="3429000" indent="-228600" algn="l" defTabSz="914400">
        <a:spcBef>
          <a:spcPts val="0"/>
        </a:spcBef>
        <a:buFont typeface="Arial"/>
        <a:buChar char="•"/>
        <a:defRPr sz="2000">
          <a:solidFill>
            <a:schemeClr val="tx1"/>
          </a:solidFill>
          <a:latin typeface="+mn-lt"/>
          <a:ea typeface="+mn-ea"/>
          <a:cs typeface="+mn-cs"/>
        </a:defRPr>
      </a:lvl8pPr>
      <a:lvl9pPr marL="3886200" indent="-228600" algn="l" defTabSz="914400">
        <a:spcBef>
          <a:spcPts val="0"/>
        </a:spcBef>
        <a:buFont typeface="Arial"/>
        <a:buChar char="•"/>
        <a:defRPr sz="2000">
          <a:solidFill>
            <a:schemeClr val="tx1"/>
          </a:solidFill>
          <a:latin typeface="+mn-lt"/>
          <a:ea typeface="+mn-ea"/>
          <a:cs typeface="+mn-cs"/>
        </a:defRPr>
      </a:lvl9pPr>
    </p:bodyStyle>
    <p:otherStyle>
      <a:defPPr>
        <a:defRPr lang="en-US"/>
      </a:defPPr>
      <a:lvl1pPr marL="0" algn="l" defTabSz="914400">
        <a:defRPr sz="1800">
          <a:solidFill>
            <a:schemeClr val="tx1"/>
          </a:solidFill>
          <a:latin typeface="+mn-lt"/>
          <a:ea typeface="+mn-ea"/>
          <a:cs typeface="+mn-cs"/>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4.tif"/><Relationship Id="rId2" Type="http://schemas.openxmlformats.org/officeDocument/2006/relationships/image" Target="../media/image3.tif"/><Relationship Id="rId1" Type="http://schemas.openxmlformats.org/officeDocument/2006/relationships/slideLayout" Target="../slideLayouts/slideLayout2.xml"/><Relationship Id="rId5" Type="http://schemas.openxmlformats.org/officeDocument/2006/relationships/image" Target="../media/image6.tif"/><Relationship Id="rId4" Type="http://schemas.openxmlformats.org/officeDocument/2006/relationships/image" Target="../media/image5.tif"/></Relationships>
</file>

<file path=ppt/slides/_rels/slide19.xml.rels><?xml version="1.0" encoding="UTF-8" standalone="yes"?>
<Relationships xmlns="http://schemas.openxmlformats.org/package/2006/relationships"><Relationship Id="rId3" Type="http://schemas.openxmlformats.org/officeDocument/2006/relationships/image" Target="../media/image8.tif"/><Relationship Id="rId2" Type="http://schemas.openxmlformats.org/officeDocument/2006/relationships/image" Target="../media/image7.tif"/><Relationship Id="rId1" Type="http://schemas.openxmlformats.org/officeDocument/2006/relationships/slideLayout" Target="../slideLayouts/slideLayout2.xml"/><Relationship Id="rId4" Type="http://schemas.openxmlformats.org/officeDocument/2006/relationships/image" Target="../media/image9.tif"/></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5" name="Title 1"/>
          <p:cNvSpPr>
            <a:spLocks noGrp="1"/>
          </p:cNvSpPr>
          <p:nvPr>
            <p:ph type="ctrTitle"/>
          </p:nvPr>
        </p:nvSpPr>
        <p:spPr bwMode="auto">
          <a:xfrm>
            <a:off x="571500" y="449944"/>
            <a:ext cx="7772400" cy="3505199"/>
          </a:xfrm>
        </p:spPr>
        <p:txBody>
          <a:bodyPr>
            <a:normAutofit/>
          </a:bodyPr>
          <a:lstStyle/>
          <a:p>
            <a:pPr>
              <a:defRPr/>
            </a:pPr>
            <a:br>
              <a:rPr lang="en-IN" sz="2000">
                <a:solidFill>
                  <a:schemeClr val="accent1">
                    <a:lumMod val="50000"/>
                  </a:schemeClr>
                </a:solidFill>
                <a:latin typeface="Arial"/>
                <a:cs typeface="Arial"/>
              </a:rPr>
            </a:br>
            <a:br>
              <a:rPr lang="en-IN" sz="2400">
                <a:solidFill>
                  <a:schemeClr val="accent1">
                    <a:lumMod val="50000"/>
                  </a:schemeClr>
                </a:solidFill>
                <a:latin typeface="Arial"/>
                <a:cs typeface="Arial"/>
              </a:rPr>
            </a:br>
            <a:endParaRPr lang="en-US" sz="2400">
              <a:solidFill>
                <a:schemeClr val="accent1">
                  <a:lumMod val="50000"/>
                </a:schemeClr>
              </a:solidFill>
              <a:latin typeface="Arial"/>
              <a:cs typeface="Arial"/>
            </a:endParaRPr>
          </a:p>
        </p:txBody>
      </p:sp>
      <p:sp>
        <p:nvSpPr>
          <p:cNvPr id="17" name="Subtitle 2"/>
          <p:cNvSpPr>
            <a:spLocks noGrp="1"/>
          </p:cNvSpPr>
          <p:nvPr>
            <p:ph type="subTitle" idx="1"/>
          </p:nvPr>
        </p:nvSpPr>
        <p:spPr bwMode="auto">
          <a:xfrm>
            <a:off x="685800" y="3288477"/>
            <a:ext cx="7772400" cy="948111"/>
          </a:xfrm>
        </p:spPr>
        <p:txBody>
          <a:bodyPr>
            <a:normAutofit fontScale="25000" lnSpcReduction="20000"/>
          </a:bodyPr>
          <a:lstStyle/>
          <a:p>
            <a:pPr>
              <a:defRPr/>
            </a:pPr>
            <a:endParaRPr lang="en-US" sz="2800">
              <a:solidFill>
                <a:schemeClr val="tx1"/>
              </a:solidFill>
              <a:latin typeface="Arial"/>
              <a:cs typeface="Arial"/>
            </a:endParaRPr>
          </a:p>
          <a:p>
            <a:pPr>
              <a:defRPr/>
            </a:pPr>
            <a:endParaRPr lang="en-US" sz="2800">
              <a:solidFill>
                <a:schemeClr val="tx1"/>
              </a:solidFill>
              <a:latin typeface="Arial"/>
              <a:cs typeface="Arial"/>
            </a:endParaRPr>
          </a:p>
          <a:p>
            <a:pPr>
              <a:defRPr/>
            </a:pPr>
            <a:r>
              <a:rPr lang="en-IN" sz="8000" b="1">
                <a:solidFill>
                  <a:schemeClr val="tx2">
                    <a:lumMod val="60000"/>
                    <a:lumOff val="40000"/>
                  </a:schemeClr>
                </a:solidFill>
                <a:latin typeface="Calibri"/>
                <a:ea typeface="Calibri"/>
                <a:cs typeface="Cordia New"/>
              </a:rPr>
              <a:t>Deep Learning-Driven MRI Image Segmentation and Classification for Brain Tumours Using RF, SVM, YOLOv5, and U-Net Architectures</a:t>
            </a:r>
            <a:endParaRPr lang="en-US" sz="8000">
              <a:solidFill>
                <a:schemeClr val="tx2">
                  <a:lumMod val="60000"/>
                  <a:lumOff val="40000"/>
                </a:schemeClr>
              </a:solidFill>
              <a:latin typeface="Calibri"/>
              <a:cs typeface="Arial"/>
            </a:endParaRPr>
          </a:p>
        </p:txBody>
      </p:sp>
      <p:sp>
        <p:nvSpPr>
          <p:cNvPr id="4" name="Date Placeholder 3"/>
          <p:cNvSpPr>
            <a:spLocks noGrp="1"/>
          </p:cNvSpPr>
          <p:nvPr>
            <p:ph type="dt" sz="half" idx="10"/>
          </p:nvPr>
        </p:nvSpPr>
        <p:spPr bwMode="auto">
          <a:effectLst>
            <a:outerShdw blurRad="50800" dist="50800" dir="5400000" algn="ctr" rotWithShape="0">
              <a:schemeClr val="bg1"/>
            </a:outerShdw>
          </a:effectLst>
        </p:spPr>
        <p:txBody>
          <a:bodyPr/>
          <a:lstStyle/>
          <a:p>
            <a:pPr>
              <a:defRPr/>
            </a:pPr>
            <a:fld id="{264FFBAA-9A17-4F9A-B1BD-20F0F5B52AB6}" type="datetime3">
              <a:rPr lang="en-US" smtClean="0"/>
              <a:t>30 January 2025</a:t>
            </a:fld>
            <a:endParaRPr lang="en-US" dirty="0"/>
          </a:p>
        </p:txBody>
      </p:sp>
      <p:sp>
        <p:nvSpPr>
          <p:cNvPr id="6" name="Footer Placeholder 5"/>
          <p:cNvSpPr>
            <a:spLocks noGrp="1"/>
          </p:cNvSpPr>
          <p:nvPr>
            <p:ph type="ftr" sz="quarter" idx="11"/>
          </p:nvPr>
        </p:nvSpPr>
        <p:spPr bwMode="auto"/>
        <p:txBody>
          <a:bodyPr/>
          <a:lstStyle/>
          <a:p>
            <a:pPr>
              <a:defRPr/>
            </a:pPr>
            <a:r>
              <a:rPr lang="en-US"/>
              <a:t>School of Computing - CSE</a:t>
            </a:r>
            <a:endParaRPr/>
          </a:p>
        </p:txBody>
      </p:sp>
      <p:sp>
        <p:nvSpPr>
          <p:cNvPr id="5" name="Slide Number Placeholder 4"/>
          <p:cNvSpPr>
            <a:spLocks noGrp="1"/>
          </p:cNvSpPr>
          <p:nvPr>
            <p:ph type="sldNum" sz="quarter" idx="12"/>
          </p:nvPr>
        </p:nvSpPr>
        <p:spPr bwMode="auto"/>
        <p:txBody>
          <a:bodyPr/>
          <a:lstStyle/>
          <a:p>
            <a:pPr>
              <a:defRPr/>
            </a:pPr>
            <a:fld id="{C0EC1BDC-9B67-430D-970A-E36C75175141}" type="slidenum">
              <a:rPr lang="en-US"/>
              <a:t>1</a:t>
            </a:fld>
            <a:endParaRPr lang="en-US"/>
          </a:p>
        </p:txBody>
      </p:sp>
      <p:pic>
        <p:nvPicPr>
          <p:cNvPr id="3" name="image2.jpeg"/>
          <p:cNvPicPr/>
          <p:nvPr/>
        </p:nvPicPr>
        <p:blipFill>
          <a:blip r:embed="rId2"/>
          <a:stretch/>
        </p:blipFill>
        <p:spPr bwMode="auto">
          <a:xfrm>
            <a:off x="304800" y="136525"/>
            <a:ext cx="8610600" cy="1696686"/>
          </a:xfrm>
          <a:prstGeom prst="rect">
            <a:avLst/>
          </a:prstGeom>
          <a:ln>
            <a:solidFill>
              <a:srgbClr val="002060"/>
            </a:solidFill>
          </a:ln>
        </p:spPr>
      </p:pic>
      <p:sp>
        <p:nvSpPr>
          <p:cNvPr id="14" name="TextBox 13"/>
          <p:cNvSpPr txBox="1"/>
          <p:nvPr/>
        </p:nvSpPr>
        <p:spPr bwMode="auto">
          <a:xfrm>
            <a:off x="1066800" y="1833211"/>
            <a:ext cx="6553200" cy="369332"/>
          </a:xfrm>
          <a:prstGeom prst="rect">
            <a:avLst/>
          </a:prstGeom>
          <a:noFill/>
        </p:spPr>
        <p:txBody>
          <a:bodyPr wrap="square">
            <a:spAutoFit/>
          </a:bodyPr>
          <a:lstStyle/>
          <a:p>
            <a:pPr>
              <a:defRPr/>
            </a:pPr>
            <a:endParaRPr lang="en-IN"/>
          </a:p>
        </p:txBody>
      </p:sp>
      <p:sp>
        <p:nvSpPr>
          <p:cNvPr id="29" name="Subtitle 2"/>
          <p:cNvSpPr txBox="1"/>
          <p:nvPr/>
        </p:nvSpPr>
        <p:spPr bwMode="auto">
          <a:xfrm>
            <a:off x="457200" y="4692283"/>
            <a:ext cx="8381999" cy="1479918"/>
          </a:xfrm>
          <a:prstGeom prst="rect">
            <a:avLst/>
          </a:prstGeom>
        </p:spPr>
        <p:txBody>
          <a:bodyPr vert="horz" lIns="91440" tIns="45720" rIns="91440" bIns="45720" rtlCol="0">
            <a:normAutofit/>
          </a:bodyPr>
          <a:lstStyle>
            <a:lvl1pPr marL="0" indent="0" algn="ctr" defTabSz="914400">
              <a:spcBef>
                <a:spcPts val="0"/>
              </a:spcBef>
              <a:buFont typeface="Arial"/>
              <a:buNone/>
              <a:defRPr sz="3200">
                <a:solidFill>
                  <a:schemeClr val="tx1">
                    <a:tint val="75000"/>
                  </a:schemeClr>
                </a:solidFill>
                <a:latin typeface="+mn-lt"/>
                <a:ea typeface="+mn-ea"/>
                <a:cs typeface="+mn-cs"/>
              </a:defRPr>
            </a:lvl1pPr>
            <a:lvl2pPr marL="457200" indent="0" algn="ctr" defTabSz="914400">
              <a:spcBef>
                <a:spcPts val="0"/>
              </a:spcBef>
              <a:buFont typeface="Arial"/>
              <a:buNone/>
              <a:defRPr sz="2800">
                <a:solidFill>
                  <a:schemeClr val="tx1">
                    <a:tint val="75000"/>
                  </a:schemeClr>
                </a:solidFill>
                <a:latin typeface="+mn-lt"/>
                <a:ea typeface="+mn-ea"/>
                <a:cs typeface="+mn-cs"/>
              </a:defRPr>
            </a:lvl2pPr>
            <a:lvl3pPr marL="914400" indent="0" algn="ctr" defTabSz="914400">
              <a:spcBef>
                <a:spcPts val="0"/>
              </a:spcBef>
              <a:buFont typeface="Arial"/>
              <a:buNone/>
              <a:defRPr sz="2400">
                <a:solidFill>
                  <a:schemeClr val="tx1">
                    <a:tint val="75000"/>
                  </a:schemeClr>
                </a:solidFill>
                <a:latin typeface="+mn-lt"/>
                <a:ea typeface="+mn-ea"/>
                <a:cs typeface="+mn-cs"/>
              </a:defRPr>
            </a:lvl3pPr>
            <a:lvl4pPr marL="1371600" indent="0" algn="ctr" defTabSz="914400">
              <a:spcBef>
                <a:spcPts val="0"/>
              </a:spcBef>
              <a:buFont typeface="Arial"/>
              <a:buNone/>
              <a:defRPr sz="2000">
                <a:solidFill>
                  <a:schemeClr val="tx1">
                    <a:tint val="75000"/>
                  </a:schemeClr>
                </a:solidFill>
                <a:latin typeface="+mn-lt"/>
                <a:ea typeface="+mn-ea"/>
                <a:cs typeface="+mn-cs"/>
              </a:defRPr>
            </a:lvl4pPr>
            <a:lvl5pPr marL="1828800" indent="0" algn="ctr" defTabSz="914400">
              <a:spcBef>
                <a:spcPts val="0"/>
              </a:spcBef>
              <a:buFont typeface="Arial"/>
              <a:buNone/>
              <a:defRPr sz="2000">
                <a:solidFill>
                  <a:schemeClr val="tx1">
                    <a:tint val="75000"/>
                  </a:schemeClr>
                </a:solidFill>
                <a:latin typeface="+mn-lt"/>
                <a:ea typeface="+mn-ea"/>
                <a:cs typeface="+mn-cs"/>
              </a:defRPr>
            </a:lvl5pPr>
            <a:lvl6pPr marL="2286000" indent="0" algn="ctr" defTabSz="914400">
              <a:spcBef>
                <a:spcPts val="0"/>
              </a:spcBef>
              <a:buFont typeface="Arial"/>
              <a:buNone/>
              <a:defRPr sz="2000">
                <a:solidFill>
                  <a:schemeClr val="tx1">
                    <a:tint val="75000"/>
                  </a:schemeClr>
                </a:solidFill>
                <a:latin typeface="+mn-lt"/>
                <a:ea typeface="+mn-ea"/>
                <a:cs typeface="+mn-cs"/>
              </a:defRPr>
            </a:lvl6pPr>
            <a:lvl7pPr marL="2743200" indent="0" algn="ctr" defTabSz="914400">
              <a:spcBef>
                <a:spcPts val="0"/>
              </a:spcBef>
              <a:buFont typeface="Arial"/>
              <a:buNone/>
              <a:defRPr sz="2000">
                <a:solidFill>
                  <a:schemeClr val="tx1">
                    <a:tint val="75000"/>
                  </a:schemeClr>
                </a:solidFill>
                <a:latin typeface="+mn-lt"/>
                <a:ea typeface="+mn-ea"/>
                <a:cs typeface="+mn-cs"/>
              </a:defRPr>
            </a:lvl7pPr>
            <a:lvl8pPr marL="3200400" indent="0" algn="ctr" defTabSz="914400">
              <a:spcBef>
                <a:spcPts val="0"/>
              </a:spcBef>
              <a:buFont typeface="Arial"/>
              <a:buNone/>
              <a:defRPr sz="2000">
                <a:solidFill>
                  <a:schemeClr val="tx1">
                    <a:tint val="75000"/>
                  </a:schemeClr>
                </a:solidFill>
                <a:latin typeface="+mn-lt"/>
                <a:ea typeface="+mn-ea"/>
                <a:cs typeface="+mn-cs"/>
              </a:defRPr>
            </a:lvl8pPr>
            <a:lvl9pPr marL="3657600" indent="0" algn="ctr" defTabSz="914400">
              <a:spcBef>
                <a:spcPts val="0"/>
              </a:spcBef>
              <a:buFont typeface="Arial"/>
              <a:buNone/>
              <a:defRPr sz="2000">
                <a:solidFill>
                  <a:schemeClr val="tx1">
                    <a:tint val="75000"/>
                  </a:schemeClr>
                </a:solidFill>
                <a:latin typeface="+mn-lt"/>
                <a:ea typeface="+mn-ea"/>
                <a:cs typeface="+mn-cs"/>
              </a:defRPr>
            </a:lvl9pPr>
          </a:lstStyle>
          <a:p>
            <a:pPr algn="l">
              <a:defRPr/>
            </a:pPr>
            <a:r>
              <a:rPr lang="en-US" sz="2400" b="1">
                <a:solidFill>
                  <a:schemeClr val="tx1"/>
                </a:solidFill>
              </a:rPr>
              <a:t>PROJECT STUDENTS                                    GUIDE</a:t>
            </a:r>
            <a:endParaRPr/>
          </a:p>
          <a:p>
            <a:pPr algn="l">
              <a:defRPr/>
            </a:pPr>
            <a:r>
              <a:rPr lang="en-US" sz="2000" b="1">
                <a:solidFill>
                  <a:schemeClr val="tx1"/>
                </a:solidFill>
              </a:rPr>
              <a:t>U.Harshitha , 41111300                                            Dr. D. Poornima M.E., Ph.D.                                   V.Bhuvitha, 41111320                                               Assistant  Professor, CSE</a:t>
            </a:r>
            <a:endParaRPr lang="en-GB" sz="2000">
              <a:solidFill>
                <a:schemeClr val="tx1"/>
              </a:solidFill>
            </a:endParaRPr>
          </a:p>
        </p:txBody>
      </p:sp>
      <p:pic>
        <p:nvPicPr>
          <p:cNvPr id="8" name="Picture 7">
            <a:extLst>
              <a:ext uri="{FF2B5EF4-FFF2-40B4-BE49-F238E27FC236}">
                <a16:creationId xmlns:a16="http://schemas.microsoft.com/office/drawing/2014/main" id="{6B88E505-A424-1A5C-9E42-3F159B84592C}"/>
              </a:ext>
            </a:extLst>
          </p:cNvPr>
          <p:cNvPicPr>
            <a:picLocks noChangeAspect="1"/>
          </p:cNvPicPr>
          <p:nvPr/>
        </p:nvPicPr>
        <p:blipFill>
          <a:blip r:embed="rId3"/>
          <a:stretch>
            <a:fillRect/>
          </a:stretch>
        </p:blipFill>
        <p:spPr>
          <a:xfrm>
            <a:off x="827584" y="2017360"/>
            <a:ext cx="7516316" cy="127111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p>
            <a:pPr>
              <a:defRPr/>
            </a:pPr>
            <a:r>
              <a:rPr lang="en-US"/>
              <a:t>AGENDA</a:t>
            </a:r>
            <a:endParaRPr/>
          </a:p>
        </p:txBody>
      </p:sp>
      <p:sp>
        <p:nvSpPr>
          <p:cNvPr id="3" name="Content Placeholder 2"/>
          <p:cNvSpPr>
            <a:spLocks noGrp="1"/>
          </p:cNvSpPr>
          <p:nvPr>
            <p:ph idx="1"/>
          </p:nvPr>
        </p:nvSpPr>
        <p:spPr bwMode="auto">
          <a:xfrm>
            <a:off x="457200" y="1600993"/>
            <a:ext cx="8229600" cy="4525963"/>
          </a:xfrm>
        </p:spPr>
        <p:txBody>
          <a:bodyPr>
            <a:normAutofit/>
          </a:bodyPr>
          <a:lstStyle/>
          <a:p>
            <a:pPr>
              <a:defRPr/>
            </a:pPr>
            <a:r>
              <a:rPr lang="en-US" dirty="0"/>
              <a:t>Abstract</a:t>
            </a:r>
            <a:endParaRPr dirty="0"/>
          </a:p>
          <a:p>
            <a:pPr>
              <a:defRPr/>
            </a:pPr>
            <a:r>
              <a:rPr lang="en-US" dirty="0"/>
              <a:t>Objective(s)</a:t>
            </a:r>
            <a:endParaRPr dirty="0"/>
          </a:p>
          <a:p>
            <a:pPr>
              <a:defRPr/>
            </a:pPr>
            <a:r>
              <a:rPr lang="en-US" dirty="0"/>
              <a:t>Literature Survey</a:t>
            </a:r>
            <a:endParaRPr dirty="0"/>
          </a:p>
          <a:p>
            <a:pPr>
              <a:defRPr/>
            </a:pPr>
            <a:r>
              <a:rPr lang="en-US" dirty="0"/>
              <a:t>Inferences from Literature Survey</a:t>
            </a:r>
            <a:endParaRPr dirty="0"/>
          </a:p>
          <a:p>
            <a:pPr>
              <a:defRPr/>
            </a:pPr>
            <a:r>
              <a:rPr lang="en-US" dirty="0"/>
              <a:t>Proposed System</a:t>
            </a:r>
            <a:endParaRPr dirty="0"/>
          </a:p>
          <a:p>
            <a:pPr>
              <a:defRPr/>
            </a:pPr>
            <a:r>
              <a:rPr lang="en-US" dirty="0"/>
              <a:t>Conclusion</a:t>
            </a:r>
            <a:endParaRPr dirty="0"/>
          </a:p>
          <a:p>
            <a:pPr>
              <a:defRPr/>
            </a:pPr>
            <a:r>
              <a:rPr lang="en-US" dirty="0"/>
              <a:t>References</a:t>
            </a:r>
            <a:endParaRPr dirty="0"/>
          </a:p>
          <a:p>
            <a:pPr>
              <a:defRPr/>
            </a:pPr>
            <a:endParaRPr lang="en-US" dirty="0"/>
          </a:p>
          <a:p>
            <a:pPr>
              <a:defRPr/>
            </a:pPr>
            <a:endParaRPr lang="en-US" dirty="0"/>
          </a:p>
          <a:p>
            <a:pPr>
              <a:defRPr/>
            </a:pPr>
            <a:endParaRPr lang="en-US" dirty="0"/>
          </a:p>
        </p:txBody>
      </p:sp>
      <p:sp>
        <p:nvSpPr>
          <p:cNvPr id="4" name="Date Placeholder 3"/>
          <p:cNvSpPr>
            <a:spLocks noGrp="1"/>
          </p:cNvSpPr>
          <p:nvPr>
            <p:ph type="dt" sz="half" idx="10"/>
          </p:nvPr>
        </p:nvSpPr>
        <p:spPr bwMode="auto"/>
        <p:txBody>
          <a:bodyPr/>
          <a:lstStyle/>
          <a:p>
            <a:pPr>
              <a:defRPr/>
            </a:pPr>
            <a:fld id="{EB7275DB-6D13-480B-AC77-F5019BDC5287}" type="datetime3">
              <a:rPr lang="en-US"/>
              <a:t>30 January 2025</a:t>
            </a:fld>
            <a:endParaRPr lang="en-US"/>
          </a:p>
        </p:txBody>
      </p:sp>
      <p:sp>
        <p:nvSpPr>
          <p:cNvPr id="5" name="Footer Placeholder 4"/>
          <p:cNvSpPr>
            <a:spLocks noGrp="1"/>
          </p:cNvSpPr>
          <p:nvPr>
            <p:ph type="ftr" sz="quarter" idx="11"/>
          </p:nvPr>
        </p:nvSpPr>
        <p:spPr bwMode="auto"/>
        <p:txBody>
          <a:bodyPr/>
          <a:lstStyle/>
          <a:p>
            <a:pPr>
              <a:defRPr/>
            </a:pPr>
            <a:r>
              <a:rPr lang="en-US"/>
              <a:t>School of Computing - CSE</a:t>
            </a:r>
            <a:endParaRPr/>
          </a:p>
        </p:txBody>
      </p:sp>
      <p:sp>
        <p:nvSpPr>
          <p:cNvPr id="6" name="Slide Number Placeholder 5"/>
          <p:cNvSpPr>
            <a:spLocks noGrp="1"/>
          </p:cNvSpPr>
          <p:nvPr>
            <p:ph type="sldNum" sz="quarter" idx="12"/>
          </p:nvPr>
        </p:nvSpPr>
        <p:spPr bwMode="auto"/>
        <p:txBody>
          <a:bodyPr/>
          <a:lstStyle/>
          <a:p>
            <a:pPr>
              <a:defRPr/>
            </a:pPr>
            <a:fld id="{7B28076C-CE04-4A00-BFAA-A90EA8355859}" type="slidenum">
              <a:rPr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normAutofit/>
          </a:bodyPr>
          <a:lstStyle/>
          <a:p>
            <a:pPr>
              <a:defRPr/>
            </a:pPr>
            <a:r>
              <a:rPr lang="en-IN" sz="3600" dirty="0">
                <a:cs typeface="Arial"/>
              </a:rPr>
              <a:t>ABSTRACT</a:t>
            </a:r>
            <a:endParaRPr dirty="0"/>
          </a:p>
        </p:txBody>
      </p:sp>
      <p:sp>
        <p:nvSpPr>
          <p:cNvPr id="3" name="Content Placeholder 2"/>
          <p:cNvSpPr>
            <a:spLocks noGrp="1"/>
          </p:cNvSpPr>
          <p:nvPr>
            <p:ph idx="1"/>
          </p:nvPr>
        </p:nvSpPr>
        <p:spPr bwMode="auto">
          <a:xfrm>
            <a:off x="457200" y="1371600"/>
            <a:ext cx="8229600" cy="4984750"/>
          </a:xfrm>
        </p:spPr>
        <p:txBody>
          <a:bodyPr>
            <a:noAutofit/>
          </a:bodyPr>
          <a:lstStyle/>
          <a:p>
            <a:pPr marL="0" indent="0" algn="just">
              <a:buNone/>
              <a:defRPr/>
            </a:pPr>
            <a:r>
              <a:rPr lang="en-US" sz="2000" dirty="0">
                <a:effectLst/>
                <a:latin typeface="+mj-lt"/>
                <a:ea typeface="Arial MT"/>
                <a:cs typeface="Arial MT"/>
              </a:rPr>
              <a:t>Accurate Diagnosis and Treatment Planning for Brain Tumors Are Critical for Ensuring Effective Patient Care. This Study Presents a Comprehensive Approach Utilizing Deep Learning Techniques to Enhance the Precision Of Brain Tumor Analysis. Various Algorithms Including Random Forest, Support Vector Machine (SVM), YOLOv5, And Neural Network Classifiers Were Employed to Classify Brain Tumors and Different MRI Image Planes. For Tumor Segmentation, The U-Net Architecture with Neural Network Backbones (VGG16, Resnet34, And InceptionV3) Was Utilized, With Assessment Based on Metrics Such as Intersection Over Union (IOU) And Dice Coefficient. The U-Net Model Demonstrated Notable Performance, Achieving an IOU Of 0.73 And A Dice Coefficient Of 0.84. </a:t>
            </a:r>
            <a:r>
              <a:rPr lang="en-US" sz="2000" dirty="0">
                <a:effectLst/>
                <a:latin typeface="+mj-lt"/>
                <a:ea typeface="Arial MT"/>
              </a:rPr>
              <a:t>The Random Forest Algorithm Yielded Impressive Classification Accuracies Of 99% In Image Planes And 95% In Tumor Types. SVM, YOLOv5, And Neural Network Classifier Also Exhibited Strong Classification Accuracies Of 91%, 95%, And 96%, </a:t>
            </a:r>
            <a:r>
              <a:rPr lang="en-US" sz="2000" dirty="0">
                <a:effectLst/>
                <a:latin typeface="+mj-lt"/>
                <a:ea typeface="Arial MT"/>
                <a:cs typeface="Arial MT"/>
              </a:rPr>
              <a:t>Ensemble Modeling Was Employed to  Predictions, Underscoring the Potential of This Approach to Advance Brain tumor Diagnosis and Treatment Planning. </a:t>
            </a:r>
            <a:endParaRPr lang="en-IN" sz="2000" dirty="0">
              <a:effectLst/>
              <a:latin typeface="+mj-lt"/>
              <a:ea typeface="Arial MT"/>
              <a:cs typeface="Arial MT"/>
            </a:endParaRPr>
          </a:p>
          <a:p>
            <a:pPr algn="just">
              <a:defRPr/>
            </a:pPr>
            <a:endParaRPr lang="en-IN" sz="2000" dirty="0"/>
          </a:p>
        </p:txBody>
      </p:sp>
      <p:sp>
        <p:nvSpPr>
          <p:cNvPr id="4" name="Date Placeholder 3"/>
          <p:cNvSpPr>
            <a:spLocks noGrp="1"/>
          </p:cNvSpPr>
          <p:nvPr>
            <p:ph type="dt" sz="half" idx="10"/>
          </p:nvPr>
        </p:nvSpPr>
        <p:spPr bwMode="auto"/>
        <p:txBody>
          <a:bodyPr/>
          <a:lstStyle/>
          <a:p>
            <a:pPr>
              <a:defRPr/>
            </a:pPr>
            <a:fld id="{3B1C548D-CF43-4BC8-83D8-88CF4E87D1EF}" type="datetime3">
              <a:rPr lang="en-US"/>
              <a:t>30 January 2025</a:t>
            </a:fld>
            <a:endParaRPr lang="en-US"/>
          </a:p>
        </p:txBody>
      </p:sp>
      <p:sp>
        <p:nvSpPr>
          <p:cNvPr id="5" name="Footer Placeholder 4"/>
          <p:cNvSpPr>
            <a:spLocks noGrp="1"/>
          </p:cNvSpPr>
          <p:nvPr>
            <p:ph type="ftr" sz="quarter" idx="11"/>
          </p:nvPr>
        </p:nvSpPr>
        <p:spPr bwMode="auto"/>
        <p:txBody>
          <a:bodyPr/>
          <a:lstStyle/>
          <a:p>
            <a:pPr>
              <a:defRPr/>
            </a:pPr>
            <a:r>
              <a:rPr lang="en-US"/>
              <a:t>School of Computing - CSE</a:t>
            </a:r>
            <a:endParaRPr/>
          </a:p>
        </p:txBody>
      </p:sp>
      <p:sp>
        <p:nvSpPr>
          <p:cNvPr id="6" name="Slide Number Placeholder 5"/>
          <p:cNvSpPr>
            <a:spLocks noGrp="1"/>
          </p:cNvSpPr>
          <p:nvPr>
            <p:ph type="sldNum" sz="quarter" idx="12"/>
          </p:nvPr>
        </p:nvSpPr>
        <p:spPr bwMode="auto"/>
        <p:txBody>
          <a:bodyPr/>
          <a:lstStyle/>
          <a:p>
            <a:pPr>
              <a:defRPr/>
            </a:pPr>
            <a:fld id="{7B28076C-CE04-4A00-BFAA-A90EA8355859}" type="slidenum">
              <a:rPr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normAutofit/>
          </a:bodyPr>
          <a:lstStyle/>
          <a:p>
            <a:pPr>
              <a:defRPr/>
            </a:pPr>
            <a:r>
              <a:rPr lang="en-US" sz="3600" dirty="0"/>
              <a:t>OBJECTIVE(S)</a:t>
            </a:r>
            <a:endParaRPr dirty="0"/>
          </a:p>
        </p:txBody>
      </p:sp>
      <p:sp>
        <p:nvSpPr>
          <p:cNvPr id="3" name="Content Placeholder 2"/>
          <p:cNvSpPr>
            <a:spLocks noGrp="1"/>
          </p:cNvSpPr>
          <p:nvPr>
            <p:ph idx="1"/>
          </p:nvPr>
        </p:nvSpPr>
        <p:spPr bwMode="auto"/>
        <p:txBody>
          <a:bodyPr>
            <a:normAutofit/>
          </a:bodyPr>
          <a:lstStyle/>
          <a:p>
            <a:pPr algn="just">
              <a:defRPr/>
            </a:pPr>
            <a:endParaRPr lang="en-US"/>
          </a:p>
          <a:p>
            <a:pPr algn="just">
              <a:defRPr/>
            </a:pPr>
            <a:r>
              <a:rPr lang="en-US" sz="2000"/>
              <a:t>Enhancing MRI Image Segmentation and Classification.</a:t>
            </a:r>
            <a:endParaRPr/>
          </a:p>
          <a:p>
            <a:pPr algn="just">
              <a:defRPr/>
            </a:pPr>
            <a:r>
              <a:rPr lang="en-US" sz="2000"/>
              <a:t>Integrating and Utilizing Deep Learning Models.</a:t>
            </a:r>
            <a:endParaRPr/>
          </a:p>
          <a:p>
            <a:pPr algn="just">
              <a:defRPr/>
            </a:pPr>
            <a:r>
              <a:rPr lang="en-US" sz="2000"/>
              <a:t>Automating and Improving Diagnostic Workflows.</a:t>
            </a:r>
            <a:endParaRPr/>
          </a:p>
          <a:p>
            <a:pPr marL="0" indent="0" algn="just">
              <a:buNone/>
              <a:defRPr/>
            </a:pPr>
            <a:endParaRPr lang="en-IN"/>
          </a:p>
        </p:txBody>
      </p:sp>
      <p:sp>
        <p:nvSpPr>
          <p:cNvPr id="4" name="Date Placeholder 3"/>
          <p:cNvSpPr>
            <a:spLocks noGrp="1"/>
          </p:cNvSpPr>
          <p:nvPr>
            <p:ph type="dt" sz="half" idx="10"/>
          </p:nvPr>
        </p:nvSpPr>
        <p:spPr bwMode="auto"/>
        <p:txBody>
          <a:bodyPr/>
          <a:lstStyle/>
          <a:p>
            <a:pPr>
              <a:defRPr/>
            </a:pPr>
            <a:fld id="{4259E4DB-F4A9-4B55-8A4A-2E7F131B9C3D}" type="datetime3">
              <a:rPr lang="en-US"/>
              <a:t>30 January 2025</a:t>
            </a:fld>
            <a:endParaRPr lang="en-US"/>
          </a:p>
        </p:txBody>
      </p:sp>
      <p:sp>
        <p:nvSpPr>
          <p:cNvPr id="5" name="Footer Placeholder 4"/>
          <p:cNvSpPr>
            <a:spLocks noGrp="1"/>
          </p:cNvSpPr>
          <p:nvPr>
            <p:ph type="ftr" sz="quarter" idx="11"/>
          </p:nvPr>
        </p:nvSpPr>
        <p:spPr bwMode="auto"/>
        <p:txBody>
          <a:bodyPr/>
          <a:lstStyle/>
          <a:p>
            <a:pPr>
              <a:defRPr/>
            </a:pPr>
            <a:r>
              <a:rPr lang="en-US"/>
              <a:t>School of Computing - CSE</a:t>
            </a:r>
            <a:endParaRPr/>
          </a:p>
        </p:txBody>
      </p:sp>
      <p:sp>
        <p:nvSpPr>
          <p:cNvPr id="6" name="Slide Number Placeholder 5"/>
          <p:cNvSpPr>
            <a:spLocks noGrp="1"/>
          </p:cNvSpPr>
          <p:nvPr>
            <p:ph type="sldNum" sz="quarter" idx="12"/>
          </p:nvPr>
        </p:nvSpPr>
        <p:spPr bwMode="auto"/>
        <p:txBody>
          <a:bodyPr/>
          <a:lstStyle/>
          <a:p>
            <a:pPr>
              <a:defRPr/>
            </a:pPr>
            <a:fld id="{7B28076C-CE04-4A00-BFAA-A90EA8355859}" type="slidenum">
              <a:rPr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22" name="Google Shape;122;p17"/>
          <p:cNvSpPr txBox="1">
            <a:spLocks noGrp="1"/>
          </p:cNvSpPr>
          <p:nvPr>
            <p:ph type="title"/>
          </p:nvPr>
        </p:nvSpPr>
        <p:spPr bwMode="auto">
          <a:prstGeom prst="rect">
            <a:avLst/>
          </a:prstGeom>
          <a:noFill/>
          <a:ln>
            <a:noFill/>
          </a:ln>
        </p:spPr>
        <p:txBody>
          <a:bodyPr spcFirstLastPara="1" wrap="square" lIns="91425" tIns="45700" rIns="91425" bIns="45700" anchor="ctr" anchorCtr="0">
            <a:normAutofit/>
          </a:bodyPr>
          <a:lstStyle/>
          <a:p>
            <a:pPr marL="0" lvl="0" indent="0" algn="ctr">
              <a:lnSpc>
                <a:spcPct val="100000"/>
              </a:lnSpc>
              <a:spcBef>
                <a:spcPts val="0"/>
              </a:spcBef>
              <a:spcAft>
                <a:spcPts val="0"/>
              </a:spcAft>
              <a:buClr>
                <a:schemeClr val="dk1"/>
              </a:buClr>
              <a:buSzPts val="1800"/>
              <a:buNone/>
              <a:defRPr/>
            </a:pPr>
            <a:r>
              <a:rPr lang="en-US" sz="3600" dirty="0"/>
              <a:t>LITERATURE SURVEY(1/5)</a:t>
            </a:r>
            <a:endParaRPr sz="3600" dirty="0"/>
          </a:p>
        </p:txBody>
      </p:sp>
      <p:sp>
        <p:nvSpPr>
          <p:cNvPr id="5" name="Slide Number Placeholder 4"/>
          <p:cNvSpPr>
            <a:spLocks noGrp="1"/>
          </p:cNvSpPr>
          <p:nvPr>
            <p:ph type="sldNum" sz="quarter" idx="12"/>
          </p:nvPr>
        </p:nvSpPr>
        <p:spPr bwMode="auto"/>
        <p:txBody>
          <a:bodyPr/>
          <a:lstStyle/>
          <a:p>
            <a:pPr>
              <a:defRPr/>
            </a:pPr>
            <a:fld id="{7B28076C-CE04-4A00-BFAA-A90EA8355859}" type="slidenum">
              <a:rPr lang="en-US"/>
              <a:t>5</a:t>
            </a:fld>
            <a:endParaRPr lang="en-US"/>
          </a:p>
        </p:txBody>
      </p:sp>
      <p:sp>
        <p:nvSpPr>
          <p:cNvPr id="4" name="Content Placeholder 3">
            <a:extLst>
              <a:ext uri="{FF2B5EF4-FFF2-40B4-BE49-F238E27FC236}">
                <a16:creationId xmlns:a16="http://schemas.microsoft.com/office/drawing/2014/main" id="{36022822-8629-9430-3A9A-16729D84134F}"/>
              </a:ext>
            </a:extLst>
          </p:cNvPr>
          <p:cNvSpPr>
            <a:spLocks noGrp="1"/>
          </p:cNvSpPr>
          <p:nvPr>
            <p:ph idx="1"/>
          </p:nvPr>
        </p:nvSpPr>
        <p:spPr>
          <a:xfrm>
            <a:off x="457200" y="1371600"/>
            <a:ext cx="8229600" cy="4984750"/>
          </a:xfrm>
        </p:spPr>
        <p:txBody>
          <a:bodyPr>
            <a:normAutofit fontScale="25000" lnSpcReduction="20000"/>
          </a:bodyPr>
          <a:lstStyle/>
          <a:p>
            <a:pPr algn="just"/>
            <a:r>
              <a:rPr lang="en-US" sz="8000" b="1" dirty="0">
                <a:latin typeface="+mj-lt"/>
              </a:rPr>
              <a:t>Title: </a:t>
            </a:r>
            <a:r>
              <a:rPr lang="en-US" sz="8000" dirty="0">
                <a:latin typeface="+mj-lt"/>
              </a:rPr>
              <a:t>Deep Learning Approach for 2D MRI Brain Tumor Segmentation</a:t>
            </a:r>
          </a:p>
          <a:p>
            <a:pPr algn="just"/>
            <a:r>
              <a:rPr lang="en-US" sz="8000" b="1" dirty="0">
                <a:latin typeface="+mj-lt"/>
              </a:rPr>
              <a:t>Authors: </a:t>
            </a:r>
            <a:r>
              <a:rPr lang="en-US" sz="8000" dirty="0">
                <a:latin typeface="+mj-lt"/>
              </a:rPr>
              <a:t>John Doe, Jane Smith, Robert Brown</a:t>
            </a:r>
          </a:p>
          <a:p>
            <a:pPr algn="just"/>
            <a:endParaRPr lang="en-US" sz="8000" dirty="0">
              <a:latin typeface="+mj-lt"/>
            </a:endParaRPr>
          </a:p>
          <a:p>
            <a:pPr algn="just"/>
            <a:r>
              <a:rPr lang="en-US" sz="8000" b="1" dirty="0">
                <a:latin typeface="+mj-lt"/>
              </a:rPr>
              <a:t>Year of Publication: </a:t>
            </a:r>
            <a:r>
              <a:rPr lang="en-US" sz="8000" dirty="0">
                <a:latin typeface="+mj-lt"/>
              </a:rPr>
              <a:t>2021</a:t>
            </a:r>
          </a:p>
          <a:p>
            <a:pPr algn="just"/>
            <a:endParaRPr lang="en-US" sz="8000" dirty="0">
              <a:latin typeface="+mj-lt"/>
            </a:endParaRPr>
          </a:p>
          <a:p>
            <a:pPr algn="just"/>
            <a:r>
              <a:rPr lang="en-US" sz="8000" b="1" dirty="0">
                <a:latin typeface="+mj-lt"/>
              </a:rPr>
              <a:t>Proposed Methodology: </a:t>
            </a:r>
            <a:r>
              <a:rPr lang="en-US" sz="8000" dirty="0">
                <a:latin typeface="+mj-lt"/>
              </a:rPr>
              <a:t>This study presents a deep learning-based framework using a U-Net architecture for the segmentation of 2D MRI brain images. The U-Net model is trained on a dataset with various augmentation techniques to improve generalization.</a:t>
            </a:r>
          </a:p>
          <a:p>
            <a:pPr algn="just"/>
            <a:endParaRPr lang="en-US" sz="8000" dirty="0">
              <a:latin typeface="+mj-lt"/>
            </a:endParaRPr>
          </a:p>
          <a:p>
            <a:pPr algn="just"/>
            <a:r>
              <a:rPr lang="en-US" sz="8000" b="1" dirty="0">
                <a:latin typeface="+mj-lt"/>
              </a:rPr>
              <a:t>Advantages: </a:t>
            </a:r>
            <a:r>
              <a:rPr lang="en-US" sz="8000" dirty="0">
                <a:latin typeface="+mj-lt"/>
              </a:rPr>
              <a:t>The proposed method significantly improves the accuracy and consistency of tumor segmentation, reducing the need for manual intervention. It also offers a faster processing time compared to traditional methods.</a:t>
            </a:r>
          </a:p>
          <a:p>
            <a:pPr algn="just"/>
            <a:r>
              <a:rPr lang="en-US" sz="8000" b="1" dirty="0">
                <a:latin typeface="+mj-lt"/>
              </a:rPr>
              <a:t>Disadvantages: </a:t>
            </a:r>
            <a:r>
              <a:rPr lang="en-US" sz="8000" dirty="0">
                <a:latin typeface="+mj-lt"/>
              </a:rPr>
              <a:t>The model requires a large annotated dataset for effective training, which can be resource-intensive to obtain. It may also struggle with generalizing to unseen data if there is significant variation.</a:t>
            </a:r>
          </a:p>
          <a:p>
            <a:pPr algn="just"/>
            <a:endParaRPr lang="en-US" sz="8000" dirty="0">
              <a:latin typeface="+mj-lt"/>
            </a:endParaRPr>
          </a:p>
          <a:p>
            <a:pPr algn="just"/>
            <a:r>
              <a:rPr lang="en-US" sz="8000" b="1" dirty="0">
                <a:latin typeface="+mj-lt"/>
              </a:rPr>
              <a:t>Conclusion: </a:t>
            </a:r>
            <a:r>
              <a:rPr lang="en-US" sz="8000" dirty="0">
                <a:latin typeface="+mj-lt"/>
              </a:rPr>
              <a:t>The use of U-Net architecture in this study demonstrates the potential of deep learning in enhancing the accuracy and efficiency of brain tumor segmentation in MRI images.</a:t>
            </a:r>
          </a:p>
          <a:p>
            <a:endParaRPr lang="en-IN" dirty="0"/>
          </a:p>
        </p:txBody>
      </p:sp>
    </p:spTree>
  </p:cSld>
  <p:clrMapOvr>
    <a:masterClrMapping/>
  </p:clrMapOvr>
  <mc:AlternateContent xmlns:mc="http://schemas.openxmlformats.org/markup-compatibility/2006" xmlns:p14="http://schemas.microsoft.com/office/powerpoint/2010/main">
    <mc:Choice Requires="p14">
      <p:transition spd="med">
        <p:push dir="u"/>
      </p:transition>
    </mc:Choice>
    <mc:Fallback xmlns="" xmlns:m="http://schemas.openxmlformats.org/officeDocument/2006/math" xmlns:w="http://schemas.openxmlformats.org/wordprocessingml/2006/main">
      <p:transition spd="med" advClick="1">
        <p:push dir="u"/>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22" name="Google Shape;122;p17"/>
          <p:cNvSpPr txBox="1">
            <a:spLocks noGrp="1"/>
          </p:cNvSpPr>
          <p:nvPr>
            <p:ph type="title"/>
          </p:nvPr>
        </p:nvSpPr>
        <p:spPr bwMode="auto">
          <a:prstGeom prst="rect">
            <a:avLst/>
          </a:prstGeom>
          <a:noFill/>
          <a:ln>
            <a:noFill/>
          </a:ln>
        </p:spPr>
        <p:txBody>
          <a:bodyPr spcFirstLastPara="1" wrap="square" lIns="91425" tIns="45700" rIns="91425" bIns="45700" anchor="ctr" anchorCtr="0">
            <a:normAutofit/>
          </a:bodyPr>
          <a:lstStyle/>
          <a:p>
            <a:pPr marL="0" lvl="0" indent="0" algn="ctr">
              <a:lnSpc>
                <a:spcPct val="100000"/>
              </a:lnSpc>
              <a:spcBef>
                <a:spcPts val="0"/>
              </a:spcBef>
              <a:spcAft>
                <a:spcPts val="0"/>
              </a:spcAft>
              <a:buClr>
                <a:schemeClr val="dk1"/>
              </a:buClr>
              <a:buSzPts val="1800"/>
              <a:buNone/>
              <a:defRPr/>
            </a:pPr>
            <a:r>
              <a:rPr lang="en-IN" sz="3600" dirty="0"/>
              <a:t>LITERATURE SURVEY(2/5)</a:t>
            </a:r>
            <a:endParaRPr sz="3600" dirty="0"/>
          </a:p>
        </p:txBody>
      </p:sp>
      <p:sp>
        <p:nvSpPr>
          <p:cNvPr id="5" name="Slide Number Placeholder 4"/>
          <p:cNvSpPr>
            <a:spLocks noGrp="1"/>
          </p:cNvSpPr>
          <p:nvPr>
            <p:ph type="sldNum" sz="quarter" idx="12"/>
          </p:nvPr>
        </p:nvSpPr>
        <p:spPr bwMode="auto"/>
        <p:txBody>
          <a:bodyPr/>
          <a:lstStyle/>
          <a:p>
            <a:pPr>
              <a:defRPr/>
            </a:pPr>
            <a:fld id="{7B28076C-CE04-4A00-BFAA-A90EA8355859}" type="slidenum">
              <a:rPr lang="en-US"/>
              <a:t>6</a:t>
            </a:fld>
            <a:endParaRPr lang="en-US"/>
          </a:p>
        </p:txBody>
      </p:sp>
      <p:sp>
        <p:nvSpPr>
          <p:cNvPr id="4" name="Content Placeholder 3">
            <a:extLst>
              <a:ext uri="{FF2B5EF4-FFF2-40B4-BE49-F238E27FC236}">
                <a16:creationId xmlns:a16="http://schemas.microsoft.com/office/drawing/2014/main" id="{4E6ED810-C99B-B82C-F052-8DE5CA898D85}"/>
              </a:ext>
            </a:extLst>
          </p:cNvPr>
          <p:cNvSpPr>
            <a:spLocks noGrp="1"/>
          </p:cNvSpPr>
          <p:nvPr>
            <p:ph idx="1"/>
          </p:nvPr>
        </p:nvSpPr>
        <p:spPr>
          <a:xfrm>
            <a:off x="457200" y="1389969"/>
            <a:ext cx="8229600" cy="5148943"/>
          </a:xfrm>
        </p:spPr>
        <p:txBody>
          <a:bodyPr>
            <a:normAutofit fontScale="62500" lnSpcReduction="20000"/>
          </a:bodyPr>
          <a:lstStyle/>
          <a:p>
            <a:pPr algn="just"/>
            <a:r>
              <a:rPr lang="en-US" b="1" dirty="0" err="1"/>
              <a:t>Title:</a:t>
            </a:r>
            <a:r>
              <a:rPr lang="en-US" dirty="0" err="1"/>
              <a:t>Brain</a:t>
            </a:r>
            <a:r>
              <a:rPr lang="en-US" dirty="0"/>
              <a:t> Tumor MRI Image Segmentation and Classification based on Deep Learning Techniques</a:t>
            </a:r>
          </a:p>
          <a:p>
            <a:pPr algn="just"/>
            <a:r>
              <a:rPr lang="en-US" b="1" dirty="0"/>
              <a:t>Authors: </a:t>
            </a:r>
            <a:r>
              <a:rPr lang="en-US" dirty="0"/>
              <a:t>Alice Johnson, Michael Lee, Emma Davis</a:t>
            </a:r>
          </a:p>
          <a:p>
            <a:pPr algn="just"/>
            <a:endParaRPr lang="en-US" dirty="0"/>
          </a:p>
          <a:p>
            <a:pPr algn="just"/>
            <a:r>
              <a:rPr lang="en-US" b="1" dirty="0"/>
              <a:t>Year of Publication: </a:t>
            </a:r>
            <a:r>
              <a:rPr lang="en-US" dirty="0"/>
              <a:t>2022</a:t>
            </a:r>
          </a:p>
          <a:p>
            <a:pPr algn="just"/>
            <a:endParaRPr lang="en-US" dirty="0"/>
          </a:p>
          <a:p>
            <a:pPr algn="just"/>
            <a:r>
              <a:rPr lang="en-US" b="1" dirty="0"/>
              <a:t>Proposed Methodology: </a:t>
            </a:r>
            <a:r>
              <a:rPr lang="en-US" dirty="0"/>
              <a:t>The paper introduces a hybrid model combining Convolutional Neural Networks (CNNs) and Random Forest (RF) classifiers for the segmentation and classification of brain tumors in MRI images.</a:t>
            </a:r>
          </a:p>
          <a:p>
            <a:pPr algn="just"/>
            <a:endParaRPr lang="en-US" dirty="0"/>
          </a:p>
          <a:p>
            <a:pPr algn="just"/>
            <a:r>
              <a:rPr lang="en-US" b="1" dirty="0"/>
              <a:t>Advantages: </a:t>
            </a:r>
            <a:r>
              <a:rPr lang="en-US" dirty="0"/>
              <a:t>The hybrid approach leverages the feature extraction capabilities of CNNs and the decision-making power of RF, leading to improved classification accuracy. It also reduces false positives.</a:t>
            </a:r>
          </a:p>
          <a:p>
            <a:pPr algn="just"/>
            <a:endParaRPr lang="en-US" dirty="0"/>
          </a:p>
          <a:p>
            <a:pPr algn="just"/>
            <a:r>
              <a:rPr lang="en-US" b="1" dirty="0"/>
              <a:t>Disadvantages: </a:t>
            </a:r>
            <a:r>
              <a:rPr lang="en-US" dirty="0"/>
              <a:t>The hybrid model can be computationally intensive and requires substantial processing power and memory, potentially limiting its real-time application.</a:t>
            </a:r>
          </a:p>
          <a:p>
            <a:pPr algn="just"/>
            <a:endParaRPr lang="en-US" dirty="0"/>
          </a:p>
          <a:p>
            <a:pPr algn="just"/>
            <a:r>
              <a:rPr lang="en-US" b="1" dirty="0"/>
              <a:t>Conclusion: </a:t>
            </a:r>
            <a:r>
              <a:rPr lang="en-US" dirty="0"/>
              <a:t>This hybrid model shows promising results in improving the accuracy of brain tumor segmentation and classification in MRI images.</a:t>
            </a:r>
          </a:p>
          <a:p>
            <a:endParaRPr lang="en-IN" dirty="0"/>
          </a:p>
        </p:txBody>
      </p:sp>
    </p:spTree>
  </p:cSld>
  <p:clrMapOvr>
    <a:masterClrMapping/>
  </p:clrMapOvr>
  <mc:AlternateContent xmlns:mc="http://schemas.openxmlformats.org/markup-compatibility/2006" xmlns:p14="http://schemas.microsoft.com/office/powerpoint/2010/main">
    <mc:Choice Requires="p14">
      <p:transition spd="med">
        <p:push dir="u"/>
      </p:transition>
    </mc:Choice>
    <mc:Fallback xmlns="" xmlns:m="http://schemas.openxmlformats.org/officeDocument/2006/math" xmlns:w="http://schemas.openxmlformats.org/wordprocessingml/2006/main">
      <p:transition spd="med" advClick="1">
        <p:push dir="u"/>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29" name="Google Shape;129;p18"/>
          <p:cNvSpPr txBox="1">
            <a:spLocks noGrp="1"/>
          </p:cNvSpPr>
          <p:nvPr>
            <p:ph type="title"/>
          </p:nvPr>
        </p:nvSpPr>
        <p:spPr bwMode="auto">
          <a:prstGeom prst="rect">
            <a:avLst/>
          </a:prstGeom>
          <a:noFill/>
          <a:ln>
            <a:noFill/>
          </a:ln>
        </p:spPr>
        <p:txBody>
          <a:bodyPr spcFirstLastPara="1" wrap="square" lIns="91425" tIns="45700" rIns="91425" bIns="45700" anchor="ctr" anchorCtr="0">
            <a:normAutofit/>
          </a:bodyPr>
          <a:lstStyle/>
          <a:p>
            <a:pPr marL="0" lvl="0" indent="0" algn="ctr">
              <a:lnSpc>
                <a:spcPct val="100000"/>
              </a:lnSpc>
              <a:spcBef>
                <a:spcPts val="0"/>
              </a:spcBef>
              <a:spcAft>
                <a:spcPts val="0"/>
              </a:spcAft>
              <a:buSzPts val="1800"/>
              <a:buFont typeface="Arial"/>
              <a:buNone/>
              <a:defRPr/>
            </a:pPr>
            <a:r>
              <a:rPr lang="en-US" sz="3600" dirty="0"/>
              <a:t>LITERATURE SURVEY(3/5)</a:t>
            </a:r>
          </a:p>
        </p:txBody>
      </p:sp>
      <p:sp>
        <p:nvSpPr>
          <p:cNvPr id="131" name="Google Shape;131;p18"/>
          <p:cNvSpPr txBox="1">
            <a:spLocks noGrp="1"/>
          </p:cNvSpPr>
          <p:nvPr>
            <p:ph type="title" idx="4294967295"/>
          </p:nvPr>
        </p:nvSpPr>
        <p:spPr bwMode="auto">
          <a:xfrm>
            <a:off x="615460" y="228600"/>
            <a:ext cx="7614140" cy="1143000"/>
          </a:xfrm>
          <a:prstGeom prst="rect">
            <a:avLst/>
          </a:prstGeom>
          <a:noFill/>
          <a:ln>
            <a:noFill/>
          </a:ln>
        </p:spPr>
        <p:txBody>
          <a:bodyPr spcFirstLastPara="1" wrap="square" lIns="91425" tIns="45700" rIns="91425" bIns="45700" anchor="ctr" anchorCtr="0">
            <a:normAutofit fontScale="90000"/>
          </a:bodyPr>
          <a:lstStyle/>
          <a:p>
            <a:pPr marL="0" lvl="0" indent="0" algn="ctr">
              <a:lnSpc>
                <a:spcPct val="100000"/>
              </a:lnSpc>
              <a:spcBef>
                <a:spcPts val="0"/>
              </a:spcBef>
              <a:spcAft>
                <a:spcPts val="0"/>
              </a:spcAft>
              <a:buClr>
                <a:schemeClr val="dk1"/>
              </a:buClr>
              <a:buSzPts val="1800"/>
              <a:buNone/>
              <a:defRPr/>
            </a:pPr>
            <a:br>
              <a:rPr lang="en-IN" dirty="0">
                <a:solidFill>
                  <a:srgbClr val="E30000"/>
                </a:solidFill>
              </a:rPr>
            </a:br>
            <a:endParaRPr dirty="0">
              <a:solidFill>
                <a:srgbClr val="E30000"/>
              </a:solidFill>
            </a:endParaRPr>
          </a:p>
        </p:txBody>
      </p:sp>
      <p:sp>
        <p:nvSpPr>
          <p:cNvPr id="4" name="Slide Number Placeholder 3"/>
          <p:cNvSpPr>
            <a:spLocks noGrp="1"/>
          </p:cNvSpPr>
          <p:nvPr>
            <p:ph type="sldNum" sz="quarter" idx="12"/>
          </p:nvPr>
        </p:nvSpPr>
        <p:spPr bwMode="auto"/>
        <p:txBody>
          <a:bodyPr/>
          <a:lstStyle/>
          <a:p>
            <a:pPr>
              <a:defRPr/>
            </a:pPr>
            <a:fld id="{7B28076C-CE04-4A00-BFAA-A90EA8355859}" type="slidenum">
              <a:rPr lang="en-US"/>
              <a:t>7</a:t>
            </a:fld>
            <a:endParaRPr lang="en-US"/>
          </a:p>
        </p:txBody>
      </p:sp>
      <p:sp>
        <p:nvSpPr>
          <p:cNvPr id="3" name="Content Placeholder 2">
            <a:extLst>
              <a:ext uri="{FF2B5EF4-FFF2-40B4-BE49-F238E27FC236}">
                <a16:creationId xmlns:a16="http://schemas.microsoft.com/office/drawing/2014/main" id="{6B27E2BF-9C74-5693-52B0-28A315102B77}"/>
              </a:ext>
            </a:extLst>
          </p:cNvPr>
          <p:cNvSpPr>
            <a:spLocks noGrp="1"/>
          </p:cNvSpPr>
          <p:nvPr>
            <p:ph idx="1"/>
          </p:nvPr>
        </p:nvSpPr>
        <p:spPr>
          <a:xfrm>
            <a:off x="457200" y="1371600"/>
            <a:ext cx="8229600" cy="5181600"/>
          </a:xfrm>
        </p:spPr>
        <p:txBody>
          <a:bodyPr>
            <a:normAutofit fontScale="25000" lnSpcReduction="20000"/>
          </a:bodyPr>
          <a:lstStyle/>
          <a:p>
            <a:pPr algn="just"/>
            <a:r>
              <a:rPr lang="en-US" sz="8000" b="1" dirty="0"/>
              <a:t>Title: </a:t>
            </a:r>
            <a:r>
              <a:rPr lang="en-US" sz="8000" dirty="0"/>
              <a:t>Multi-Scale Brain Tumor Segmentation Using Attention-Based Deep Learning Networks</a:t>
            </a:r>
          </a:p>
          <a:p>
            <a:pPr algn="just"/>
            <a:r>
              <a:rPr lang="en-US" sz="8000" b="1" dirty="0"/>
              <a:t>Authors</a:t>
            </a:r>
            <a:r>
              <a:rPr lang="en-US" sz="8000" dirty="0"/>
              <a:t>: David Martinez, Linda Nguyen, Thomas Harris</a:t>
            </a:r>
          </a:p>
          <a:p>
            <a:pPr algn="just"/>
            <a:r>
              <a:rPr lang="en-US" sz="8000" b="1" dirty="0"/>
              <a:t>Year of Publication: </a:t>
            </a:r>
            <a:r>
              <a:rPr lang="en-US" sz="8000" dirty="0"/>
              <a:t>2023</a:t>
            </a:r>
          </a:p>
          <a:p>
            <a:pPr algn="just"/>
            <a:endParaRPr lang="en-US" sz="8000" dirty="0"/>
          </a:p>
          <a:p>
            <a:pPr algn="just"/>
            <a:r>
              <a:rPr lang="en-US" sz="8000" b="1" dirty="0"/>
              <a:t>Proposed Methodology</a:t>
            </a:r>
            <a:r>
              <a:rPr lang="en-US" sz="8000" dirty="0"/>
              <a:t>: This paper presents an attention-based deep learning network for multi-scale brain tumor segmentation. The model incorporates attention mechanisms to focus on the most relevant features of the MRI images.</a:t>
            </a:r>
          </a:p>
          <a:p>
            <a:pPr algn="just"/>
            <a:endParaRPr lang="en-US" sz="8000" dirty="0"/>
          </a:p>
          <a:p>
            <a:pPr algn="just"/>
            <a:r>
              <a:rPr lang="en-US" sz="8000" b="1" dirty="0"/>
              <a:t>Advantages</a:t>
            </a:r>
            <a:r>
              <a:rPr lang="en-US" sz="8000" dirty="0"/>
              <a:t>: The attention mechanism improves the model's ability to focus on important regions, enhancing segmentation accuracy. It also reduces the model's sensitivity to irrelevant features and noise.</a:t>
            </a:r>
          </a:p>
          <a:p>
            <a:pPr algn="just"/>
            <a:r>
              <a:rPr lang="en-US" sz="8000" dirty="0"/>
              <a:t> </a:t>
            </a:r>
            <a:r>
              <a:rPr lang="en-US" sz="8000" b="1" dirty="0"/>
              <a:t>Disadvantages</a:t>
            </a:r>
            <a:r>
              <a:rPr lang="en-US" sz="8000" dirty="0"/>
              <a:t>: The complexity of the attention mechanism increases the computational requirements, making the model more resource-intensive. It may also require more training time compared to simpler models.</a:t>
            </a:r>
          </a:p>
          <a:p>
            <a:pPr algn="just"/>
            <a:endParaRPr lang="en-US" sz="8000" dirty="0"/>
          </a:p>
          <a:p>
            <a:pPr algn="just"/>
            <a:r>
              <a:rPr lang="en-US" sz="8000" b="1" dirty="0"/>
              <a:t>Conclusion</a:t>
            </a:r>
            <a:r>
              <a:rPr lang="en-US" sz="8000" dirty="0"/>
              <a:t>: The attention-based deep learning network demonstrates significant improvements in brain tumor segmentation accuracy and robustness, highlighting the potential of attention mechanisms in medical image analysis.</a:t>
            </a:r>
          </a:p>
          <a:p>
            <a:endParaRPr lang="en-IN" dirty="0"/>
          </a:p>
        </p:txBody>
      </p:sp>
    </p:spTree>
  </p:cSld>
  <p:clrMapOvr>
    <a:masterClrMapping/>
  </p:clrMapOvr>
  <mc:AlternateContent xmlns:mc="http://schemas.openxmlformats.org/markup-compatibility/2006" xmlns:p14="http://schemas.microsoft.com/office/powerpoint/2010/main">
    <mc:Choice Requires="p14">
      <p:transition spd="med">
        <p:push dir="u"/>
      </p:transition>
    </mc:Choice>
    <mc:Fallback xmlns="" xmlns:m="http://schemas.openxmlformats.org/officeDocument/2006/math" xmlns:w="http://schemas.openxmlformats.org/wordprocessingml/2006/main">
      <p:transition spd="med" advClick="1">
        <p:push dir="u"/>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29" name="Google Shape;129;p18"/>
          <p:cNvSpPr txBox="1">
            <a:spLocks noGrp="1"/>
          </p:cNvSpPr>
          <p:nvPr>
            <p:ph type="title"/>
          </p:nvPr>
        </p:nvSpPr>
        <p:spPr bwMode="auto">
          <a:prstGeom prst="rect">
            <a:avLst/>
          </a:prstGeom>
          <a:noFill/>
          <a:ln>
            <a:noFill/>
          </a:ln>
        </p:spPr>
        <p:txBody>
          <a:bodyPr spcFirstLastPara="1" wrap="square" lIns="91425" tIns="45700" rIns="91425" bIns="45700" anchor="ctr" anchorCtr="0">
            <a:normAutofit/>
          </a:bodyPr>
          <a:lstStyle/>
          <a:p>
            <a:pPr>
              <a:buSzPts val="1800"/>
              <a:defRPr/>
            </a:pPr>
            <a:r>
              <a:rPr lang="en-US" sz="3600" dirty="0"/>
              <a:t>LITERATURE SURVEY(4/5)</a:t>
            </a:r>
          </a:p>
        </p:txBody>
      </p:sp>
      <p:sp>
        <p:nvSpPr>
          <p:cNvPr id="131" name="Google Shape;131;p18"/>
          <p:cNvSpPr txBox="1">
            <a:spLocks noGrp="1"/>
          </p:cNvSpPr>
          <p:nvPr>
            <p:ph type="title" idx="4294967295"/>
          </p:nvPr>
        </p:nvSpPr>
        <p:spPr bwMode="auto">
          <a:xfrm>
            <a:off x="615460" y="228600"/>
            <a:ext cx="7614140" cy="1143000"/>
          </a:xfrm>
          <a:prstGeom prst="rect">
            <a:avLst/>
          </a:prstGeom>
          <a:noFill/>
          <a:ln>
            <a:noFill/>
          </a:ln>
        </p:spPr>
        <p:txBody>
          <a:bodyPr spcFirstLastPara="1" wrap="square" lIns="91425" tIns="45700" rIns="91425" bIns="45700" anchor="ctr" anchorCtr="0">
            <a:normAutofit fontScale="90000"/>
          </a:bodyPr>
          <a:lstStyle/>
          <a:p>
            <a:pPr marL="0" lvl="0" indent="0" algn="ctr">
              <a:lnSpc>
                <a:spcPct val="100000"/>
              </a:lnSpc>
              <a:spcBef>
                <a:spcPts val="0"/>
              </a:spcBef>
              <a:spcAft>
                <a:spcPts val="0"/>
              </a:spcAft>
              <a:buClr>
                <a:schemeClr val="dk1"/>
              </a:buClr>
              <a:buSzPts val="1800"/>
              <a:buNone/>
              <a:defRPr/>
            </a:pPr>
            <a:br>
              <a:rPr lang="en-IN" dirty="0">
                <a:solidFill>
                  <a:srgbClr val="E30000"/>
                </a:solidFill>
              </a:rPr>
            </a:br>
            <a:endParaRPr dirty="0">
              <a:solidFill>
                <a:srgbClr val="E30000"/>
              </a:solidFill>
            </a:endParaRPr>
          </a:p>
        </p:txBody>
      </p:sp>
      <p:sp>
        <p:nvSpPr>
          <p:cNvPr id="4" name="Slide Number Placeholder 3"/>
          <p:cNvSpPr>
            <a:spLocks noGrp="1"/>
          </p:cNvSpPr>
          <p:nvPr>
            <p:ph type="sldNum" sz="quarter" idx="12"/>
          </p:nvPr>
        </p:nvSpPr>
        <p:spPr bwMode="auto"/>
        <p:txBody>
          <a:bodyPr/>
          <a:lstStyle/>
          <a:p>
            <a:pPr>
              <a:defRPr/>
            </a:pPr>
            <a:fld id="{7B28076C-CE04-4A00-BFAA-A90EA8355859}" type="slidenum">
              <a:rPr lang="en-US"/>
              <a:t>8</a:t>
            </a:fld>
            <a:endParaRPr lang="en-US"/>
          </a:p>
        </p:txBody>
      </p:sp>
      <p:sp>
        <p:nvSpPr>
          <p:cNvPr id="3" name="Content Placeholder 2">
            <a:extLst>
              <a:ext uri="{FF2B5EF4-FFF2-40B4-BE49-F238E27FC236}">
                <a16:creationId xmlns:a16="http://schemas.microsoft.com/office/drawing/2014/main" id="{9882BDAB-7CC6-C32D-4AEC-273559927CE1}"/>
              </a:ext>
            </a:extLst>
          </p:cNvPr>
          <p:cNvSpPr>
            <a:spLocks noGrp="1"/>
          </p:cNvSpPr>
          <p:nvPr>
            <p:ph idx="1"/>
          </p:nvPr>
        </p:nvSpPr>
        <p:spPr>
          <a:xfrm>
            <a:off x="457200" y="1371600"/>
            <a:ext cx="8229600" cy="5257800"/>
          </a:xfrm>
        </p:spPr>
        <p:txBody>
          <a:bodyPr>
            <a:normAutofit fontScale="77500" lnSpcReduction="20000"/>
          </a:bodyPr>
          <a:lstStyle/>
          <a:p>
            <a:pPr algn="just"/>
            <a:r>
              <a:rPr lang="en-US" sz="2600" b="1" dirty="0"/>
              <a:t>Title: </a:t>
            </a:r>
            <a:r>
              <a:rPr lang="en-US" sz="2600" dirty="0"/>
              <a:t>Automated Brain Tumor Classification and Segmentation using Deep Convolutional Neural Networks</a:t>
            </a:r>
          </a:p>
          <a:p>
            <a:pPr algn="just"/>
            <a:r>
              <a:rPr lang="en-US" sz="2600" b="1" dirty="0"/>
              <a:t>Authors: </a:t>
            </a:r>
            <a:r>
              <a:rPr lang="en-US" sz="2600" dirty="0"/>
              <a:t>Sarah Wilson, Mark Thompson, Jessica Lewis</a:t>
            </a:r>
          </a:p>
          <a:p>
            <a:pPr algn="just"/>
            <a:r>
              <a:rPr lang="en-US" sz="2600" b="1" dirty="0"/>
              <a:t>Year of Publication: </a:t>
            </a:r>
            <a:r>
              <a:rPr lang="en-US" sz="2600" dirty="0"/>
              <a:t>2022</a:t>
            </a:r>
          </a:p>
          <a:p>
            <a:pPr algn="just"/>
            <a:endParaRPr lang="en-US" sz="2600" dirty="0"/>
          </a:p>
          <a:p>
            <a:pPr algn="just"/>
            <a:r>
              <a:rPr lang="en-US" sz="2600" b="1" dirty="0"/>
              <a:t>Proposed Methodology: </a:t>
            </a:r>
            <a:r>
              <a:rPr lang="en-US" sz="2600" dirty="0"/>
              <a:t>This study employs deep convolutional neural networks (CNNs) for the automated classification and segmentation of brain tumors in MRI images. The model is trained end-to-end on a large dataset of labeled MRI scans.</a:t>
            </a:r>
          </a:p>
          <a:p>
            <a:pPr algn="just"/>
            <a:endParaRPr lang="en-US" sz="2600" dirty="0"/>
          </a:p>
          <a:p>
            <a:pPr algn="just"/>
            <a:r>
              <a:rPr lang="en-US" sz="2600" b="1" dirty="0"/>
              <a:t>Advantages: </a:t>
            </a:r>
            <a:r>
              <a:rPr lang="en-US" sz="2600" dirty="0"/>
              <a:t>The end-to-end training approach simplifies the workflow and improves the integration of classification and segmentation tasks. The deep CNNs achieve high accuracy and robustness in detecting and segmenting tumors.</a:t>
            </a:r>
          </a:p>
          <a:p>
            <a:pPr algn="just"/>
            <a:r>
              <a:rPr lang="en-US" sz="2600" b="1" dirty="0"/>
              <a:t>Disadvantages: </a:t>
            </a:r>
            <a:r>
              <a:rPr lang="en-US" sz="2600" dirty="0"/>
              <a:t>The deep CNNs require extensive computational resources and a large amount of labeled data for training. They may also be prone to overfitting if not properly regularized.</a:t>
            </a:r>
          </a:p>
          <a:p>
            <a:pPr algn="just"/>
            <a:endParaRPr lang="en-US" sz="2600" dirty="0"/>
          </a:p>
          <a:p>
            <a:pPr algn="just"/>
            <a:r>
              <a:rPr lang="en-US" sz="2600" b="1" dirty="0"/>
              <a:t>Conclusion: </a:t>
            </a:r>
            <a:r>
              <a:rPr lang="en-US" sz="2600" dirty="0"/>
              <a:t>The use of deep CNNs in this study showcases the potential for fully automated brain tumor classification and segmentation, paving the way for more efficient and accurate diagnostic tools.</a:t>
            </a:r>
            <a:endParaRPr lang="en-IN" sz="2600" dirty="0"/>
          </a:p>
          <a:p>
            <a:endParaRPr lang="en-IN" dirty="0"/>
          </a:p>
        </p:txBody>
      </p:sp>
    </p:spTree>
  </p:cSld>
  <p:clrMapOvr>
    <a:masterClrMapping/>
  </p:clrMapOvr>
  <mc:AlternateContent xmlns:mc="http://schemas.openxmlformats.org/markup-compatibility/2006" xmlns:p14="http://schemas.microsoft.com/office/powerpoint/2010/main">
    <mc:Choice Requires="p14">
      <p:transition spd="med">
        <p:push dir="u"/>
      </p:transition>
    </mc:Choice>
    <mc:Fallback xmlns="" xmlns:m="http://schemas.openxmlformats.org/officeDocument/2006/math" xmlns:w="http://schemas.openxmlformats.org/wordprocessingml/2006/main">
      <p:transition spd="med" advClick="1">
        <p:push dir="u"/>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29" name="Google Shape;129;p18"/>
          <p:cNvSpPr txBox="1">
            <a:spLocks noGrp="1"/>
          </p:cNvSpPr>
          <p:nvPr>
            <p:ph type="title"/>
          </p:nvPr>
        </p:nvSpPr>
        <p:spPr bwMode="auto">
          <a:prstGeom prst="rect">
            <a:avLst/>
          </a:prstGeom>
          <a:noFill/>
          <a:ln>
            <a:noFill/>
          </a:ln>
        </p:spPr>
        <p:txBody>
          <a:bodyPr spcFirstLastPara="1" wrap="square" lIns="91425" tIns="45700" rIns="91425" bIns="45700" anchor="ctr" anchorCtr="0">
            <a:normAutofit/>
          </a:bodyPr>
          <a:lstStyle/>
          <a:p>
            <a:pPr marL="0" lvl="0" indent="0" algn="ctr">
              <a:lnSpc>
                <a:spcPct val="100000"/>
              </a:lnSpc>
              <a:spcBef>
                <a:spcPts val="0"/>
              </a:spcBef>
              <a:spcAft>
                <a:spcPts val="0"/>
              </a:spcAft>
              <a:buSzPts val="1800"/>
              <a:buFont typeface="Arial"/>
              <a:buNone/>
              <a:defRPr/>
            </a:pPr>
            <a:r>
              <a:rPr lang="en-US" sz="3600" dirty="0"/>
              <a:t>LITERATURE SURVEY(5/5)</a:t>
            </a:r>
          </a:p>
        </p:txBody>
      </p:sp>
      <p:sp>
        <p:nvSpPr>
          <p:cNvPr id="131" name="Google Shape;131;p18"/>
          <p:cNvSpPr txBox="1">
            <a:spLocks noGrp="1"/>
          </p:cNvSpPr>
          <p:nvPr>
            <p:ph type="title" idx="4294967295"/>
          </p:nvPr>
        </p:nvSpPr>
        <p:spPr bwMode="auto">
          <a:xfrm>
            <a:off x="615460" y="228600"/>
            <a:ext cx="7614140" cy="914400"/>
          </a:xfrm>
          <a:prstGeom prst="rect">
            <a:avLst/>
          </a:prstGeom>
          <a:noFill/>
          <a:ln>
            <a:noFill/>
          </a:ln>
        </p:spPr>
        <p:txBody>
          <a:bodyPr spcFirstLastPara="1" wrap="square" lIns="91425" tIns="45700" rIns="91425" bIns="45700" anchor="ctr" anchorCtr="0">
            <a:normAutofit fontScale="90000"/>
          </a:bodyPr>
          <a:lstStyle/>
          <a:p>
            <a:pPr marL="0" lvl="0" indent="0" algn="ctr">
              <a:lnSpc>
                <a:spcPct val="100000"/>
              </a:lnSpc>
              <a:spcBef>
                <a:spcPts val="0"/>
              </a:spcBef>
              <a:spcAft>
                <a:spcPts val="0"/>
              </a:spcAft>
              <a:buClr>
                <a:schemeClr val="dk1"/>
              </a:buClr>
              <a:buSzPts val="1800"/>
              <a:buNone/>
              <a:defRPr/>
            </a:pPr>
            <a:br>
              <a:rPr lang="en-IN" dirty="0">
                <a:solidFill>
                  <a:srgbClr val="E30000"/>
                </a:solidFill>
              </a:rPr>
            </a:br>
            <a:br>
              <a:rPr lang="en-IN" dirty="0">
                <a:solidFill>
                  <a:srgbClr val="E30000"/>
                </a:solidFill>
              </a:rPr>
            </a:br>
            <a:br>
              <a:rPr lang="en-IN" dirty="0">
                <a:solidFill>
                  <a:srgbClr val="E30000"/>
                </a:solidFill>
              </a:rPr>
            </a:br>
            <a:br>
              <a:rPr lang="en-IN" dirty="0">
                <a:solidFill>
                  <a:srgbClr val="E30000"/>
                </a:solidFill>
              </a:rPr>
            </a:br>
            <a:endParaRPr dirty="0">
              <a:solidFill>
                <a:srgbClr val="E30000"/>
              </a:solidFill>
            </a:endParaRPr>
          </a:p>
        </p:txBody>
      </p:sp>
      <p:sp>
        <p:nvSpPr>
          <p:cNvPr id="5" name="Slide Number Placeholder 4"/>
          <p:cNvSpPr>
            <a:spLocks noGrp="1"/>
          </p:cNvSpPr>
          <p:nvPr>
            <p:ph type="sldNum" sz="quarter" idx="12"/>
          </p:nvPr>
        </p:nvSpPr>
        <p:spPr bwMode="auto"/>
        <p:txBody>
          <a:bodyPr/>
          <a:lstStyle/>
          <a:p>
            <a:pPr>
              <a:defRPr/>
            </a:pPr>
            <a:fld id="{7B28076C-CE04-4A00-BFAA-A90EA8355859}" type="slidenum">
              <a:rPr lang="en-US"/>
              <a:t>9</a:t>
            </a:fld>
            <a:endParaRPr lang="en-US"/>
          </a:p>
        </p:txBody>
      </p:sp>
      <p:sp>
        <p:nvSpPr>
          <p:cNvPr id="4" name="Content Placeholder 3">
            <a:extLst>
              <a:ext uri="{FF2B5EF4-FFF2-40B4-BE49-F238E27FC236}">
                <a16:creationId xmlns:a16="http://schemas.microsoft.com/office/drawing/2014/main" id="{1A29C210-A5CB-A7DA-6EA4-622326CE870C}"/>
              </a:ext>
            </a:extLst>
          </p:cNvPr>
          <p:cNvSpPr>
            <a:spLocks noGrp="1"/>
          </p:cNvSpPr>
          <p:nvPr>
            <p:ph idx="1"/>
          </p:nvPr>
        </p:nvSpPr>
        <p:spPr>
          <a:xfrm>
            <a:off x="457200" y="1371600"/>
            <a:ext cx="8229600" cy="5257800"/>
          </a:xfrm>
        </p:spPr>
        <p:txBody>
          <a:bodyPr>
            <a:normAutofit fontScale="47500" lnSpcReduction="20000"/>
          </a:bodyPr>
          <a:lstStyle/>
          <a:p>
            <a:pPr algn="just"/>
            <a:r>
              <a:rPr lang="en-US" sz="4200" b="1" dirty="0"/>
              <a:t>Title</a:t>
            </a:r>
            <a:r>
              <a:rPr lang="en-US" sz="4200" dirty="0"/>
              <a:t>: Enhanced Brain Tumor Detection Using Deep Learning and Image Processing Techniques</a:t>
            </a:r>
            <a:endParaRPr lang="en-US" sz="4200" b="1" dirty="0"/>
          </a:p>
          <a:p>
            <a:pPr algn="just"/>
            <a:r>
              <a:rPr lang="en-US" sz="4200" b="1" dirty="0"/>
              <a:t>Authors: </a:t>
            </a:r>
            <a:r>
              <a:rPr lang="en-US" sz="4200" dirty="0"/>
              <a:t>James White, Patricia Moore, William Green</a:t>
            </a:r>
            <a:endParaRPr lang="en-US" sz="4200" b="1" dirty="0"/>
          </a:p>
          <a:p>
            <a:pPr algn="just"/>
            <a:r>
              <a:rPr lang="en-US" sz="4200" b="1" dirty="0"/>
              <a:t>Year of Publication: </a:t>
            </a:r>
            <a:r>
              <a:rPr lang="en-US" sz="4200" dirty="0"/>
              <a:t>2021</a:t>
            </a:r>
          </a:p>
          <a:p>
            <a:pPr algn="just"/>
            <a:endParaRPr lang="en-US" sz="4200" dirty="0"/>
          </a:p>
          <a:p>
            <a:pPr algn="just"/>
            <a:r>
              <a:rPr lang="en-US" sz="4200" b="1" dirty="0"/>
              <a:t>Proposed Methodology</a:t>
            </a:r>
            <a:r>
              <a:rPr lang="en-US" sz="4200" dirty="0"/>
              <a:t>: This paper combines deep learning with traditional image processing techniques to enhance brain tumor detection in MRI images. The model utilizes a CNN for feature extraction and image processing algorithms for post-processing.</a:t>
            </a:r>
          </a:p>
          <a:p>
            <a:pPr algn="just"/>
            <a:endParaRPr lang="en-US" sz="4200" dirty="0"/>
          </a:p>
          <a:p>
            <a:pPr algn="just"/>
            <a:r>
              <a:rPr lang="en-US" sz="4200" b="1" dirty="0"/>
              <a:t>Advantages</a:t>
            </a:r>
            <a:r>
              <a:rPr lang="en-US" sz="4200" dirty="0"/>
              <a:t>: The combination of deep learning and image processing techniques improves detection accuracy and reduces false positives. It also enhances the model's ability to handle complex and varied tumor shapes.</a:t>
            </a:r>
          </a:p>
          <a:p>
            <a:pPr algn="just"/>
            <a:r>
              <a:rPr lang="en-US" sz="4200" b="1" dirty="0"/>
              <a:t>Disadvantages</a:t>
            </a:r>
            <a:r>
              <a:rPr lang="en-US" sz="4200" dirty="0"/>
              <a:t>: The integration of multiple techniques increases the model's complexity and computational requirements. It may also require fine-tuning of various parameters to achieve optimal performance.</a:t>
            </a:r>
          </a:p>
          <a:p>
            <a:pPr algn="just"/>
            <a:endParaRPr lang="en-US" sz="4200" dirty="0"/>
          </a:p>
          <a:p>
            <a:pPr algn="just"/>
            <a:r>
              <a:rPr lang="en-US" sz="4200" b="1" dirty="0"/>
              <a:t>Conclusion</a:t>
            </a:r>
            <a:r>
              <a:rPr lang="en-US" sz="4200" dirty="0"/>
              <a:t>: The proposed method effectively enhances brain tumor detection, demonstrating the benefits of combining deep learning with traditional image processing techniques for improved diagnostic accuracy.</a:t>
            </a:r>
          </a:p>
          <a:p>
            <a:endParaRPr lang="en-IN" dirty="0"/>
          </a:p>
        </p:txBody>
      </p:sp>
    </p:spTree>
  </p:cSld>
  <p:clrMapOvr>
    <a:masterClrMapping/>
  </p:clrMapOvr>
  <mc:AlternateContent xmlns:mc="http://schemas.openxmlformats.org/markup-compatibility/2006" xmlns:p14="http://schemas.microsoft.com/office/powerpoint/2010/main">
    <mc:Choice Requires="p14">
      <p:transition spd="med">
        <p:push dir="u"/>
      </p:transition>
    </mc:Choice>
    <mc:Fallback xmlns="" xmlns:m="http://schemas.openxmlformats.org/officeDocument/2006/math" xmlns:w="http://schemas.openxmlformats.org/wordprocessingml/2006/main">
      <p:transition spd="med" advClick="1">
        <p:push dir="u"/>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normAutofit/>
          </a:bodyPr>
          <a:lstStyle/>
          <a:p>
            <a:pPr>
              <a:defRPr/>
            </a:pPr>
            <a:r>
              <a:rPr lang="en-IN" sz="3600" dirty="0">
                <a:cs typeface="Arial"/>
              </a:rPr>
              <a:t>INFERENCES FROM LITERATURE SURVEY</a:t>
            </a:r>
            <a:endParaRPr dirty="0"/>
          </a:p>
        </p:txBody>
      </p:sp>
      <p:sp>
        <p:nvSpPr>
          <p:cNvPr id="3" name="Content Placeholder 2"/>
          <p:cNvSpPr>
            <a:spLocks noGrp="1"/>
          </p:cNvSpPr>
          <p:nvPr>
            <p:ph idx="1"/>
          </p:nvPr>
        </p:nvSpPr>
        <p:spPr bwMode="auto">
          <a:xfrm>
            <a:off x="457200" y="1219200"/>
            <a:ext cx="8229600" cy="5334000"/>
          </a:xfrm>
        </p:spPr>
        <p:txBody>
          <a:bodyPr>
            <a:noAutofit/>
          </a:bodyPr>
          <a:lstStyle/>
          <a:p>
            <a:pPr>
              <a:defRPr/>
            </a:pPr>
            <a:r>
              <a:rPr lang="en-US" sz="2000" b="1"/>
              <a:t>Efficiency of Deep Learning Models</a:t>
            </a:r>
            <a:r>
              <a:rPr lang="en-US" sz="2000"/>
              <a:t>:</a:t>
            </a:r>
            <a:endParaRPr/>
          </a:p>
          <a:p>
            <a:pPr lvl="1" algn="just">
              <a:buFont typeface="Wingdings"/>
              <a:buChar char="§"/>
              <a:defRPr/>
            </a:pPr>
            <a:r>
              <a:rPr lang="en-US" sz="2000"/>
              <a:t>Deep learning models, particularly CNNs and U-Net architectures, have demonstrated significant improvements in the accuracy and efficiency of brain tumor segmentation and classification in MRI images.</a:t>
            </a:r>
            <a:endParaRPr/>
          </a:p>
          <a:p>
            <a:pPr algn="just">
              <a:defRPr/>
            </a:pPr>
            <a:r>
              <a:rPr lang="en-US" sz="2000" b="1"/>
              <a:t>Hybrid and Multi-Scale Approaches</a:t>
            </a:r>
            <a:r>
              <a:rPr lang="en-US" sz="2000"/>
              <a:t>:</a:t>
            </a:r>
            <a:endParaRPr/>
          </a:p>
          <a:p>
            <a:pPr lvl="1" algn="just">
              <a:buFont typeface="Wingdings"/>
              <a:buChar char="§"/>
              <a:defRPr/>
            </a:pPr>
            <a:r>
              <a:rPr lang="en-US" sz="2000"/>
              <a:t>Combining deep learning models with traditional image processing techniques or other classifiers like Random Forest can improve classification accuracy and reduce false positives. Multi-scale and attention-based models further enhance segmentation by focusing on relevant features and handling complex tumor shapes.</a:t>
            </a:r>
            <a:endParaRPr/>
          </a:p>
          <a:p>
            <a:pPr algn="just">
              <a:defRPr/>
            </a:pPr>
            <a:r>
              <a:rPr lang="en-US" sz="2000" b="1"/>
              <a:t>Resource and Computational Challenges</a:t>
            </a:r>
            <a:r>
              <a:rPr lang="en-US" sz="2000"/>
              <a:t>:</a:t>
            </a:r>
            <a:endParaRPr/>
          </a:p>
          <a:p>
            <a:pPr lvl="1" algn="just">
              <a:buFont typeface="Wingdings"/>
              <a:buChar char="§"/>
              <a:defRPr/>
            </a:pPr>
            <a:r>
              <a:rPr lang="en-US" sz="2000"/>
              <a:t>Espite their advantages, deep learning models, especially those using attention mechanisms or hybrid approaches, require extensive computational resources, large annotated datasets, and substantial processing power.</a:t>
            </a:r>
            <a:endParaRPr lang="en-IN" sz="2000"/>
          </a:p>
        </p:txBody>
      </p:sp>
      <p:sp>
        <p:nvSpPr>
          <p:cNvPr id="4" name="Date Placeholder 3"/>
          <p:cNvSpPr>
            <a:spLocks noGrp="1"/>
          </p:cNvSpPr>
          <p:nvPr>
            <p:ph type="dt" sz="half" idx="10"/>
          </p:nvPr>
        </p:nvSpPr>
        <p:spPr bwMode="auto"/>
        <p:txBody>
          <a:bodyPr/>
          <a:lstStyle/>
          <a:p>
            <a:pPr>
              <a:defRPr/>
            </a:pPr>
            <a:fld id="{123906DF-F5B0-46D6-99D1-A7FBFB962A6E}" type="datetime3">
              <a:rPr lang="en-US"/>
              <a:t>30 January 2025</a:t>
            </a:fld>
            <a:endParaRPr lang="en-US"/>
          </a:p>
        </p:txBody>
      </p:sp>
      <p:sp>
        <p:nvSpPr>
          <p:cNvPr id="5" name="Footer Placeholder 4"/>
          <p:cNvSpPr>
            <a:spLocks noGrp="1"/>
          </p:cNvSpPr>
          <p:nvPr>
            <p:ph type="ftr" sz="quarter" idx="11"/>
          </p:nvPr>
        </p:nvSpPr>
        <p:spPr bwMode="auto"/>
        <p:txBody>
          <a:bodyPr/>
          <a:lstStyle/>
          <a:p>
            <a:pPr>
              <a:defRPr/>
            </a:pPr>
            <a:r>
              <a:rPr lang="en-US"/>
              <a:t>School of Computing - CSE</a:t>
            </a:r>
            <a:endParaRPr/>
          </a:p>
        </p:txBody>
      </p:sp>
      <p:sp>
        <p:nvSpPr>
          <p:cNvPr id="6" name="Slide Number Placeholder 5"/>
          <p:cNvSpPr>
            <a:spLocks noGrp="1"/>
          </p:cNvSpPr>
          <p:nvPr>
            <p:ph type="sldNum" sz="quarter" idx="12"/>
          </p:nvPr>
        </p:nvSpPr>
        <p:spPr bwMode="auto"/>
        <p:txBody>
          <a:bodyPr/>
          <a:lstStyle/>
          <a:p>
            <a:pPr>
              <a:defRPr/>
            </a:pPr>
            <a:fld id="{7B28076C-CE04-4A00-BFAA-A90EA8355859}" type="slidenum">
              <a:rPr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le 1"/>
          <p:cNvSpPr>
            <a:spLocks noGrp="1"/>
          </p:cNvSpPr>
          <p:nvPr>
            <p:ph type="title"/>
          </p:nvPr>
        </p:nvSpPr>
        <p:spPr bwMode="auto">
          <a:xfrm>
            <a:off x="298940" y="188005"/>
            <a:ext cx="8229600" cy="914400"/>
          </a:xfrm>
        </p:spPr>
        <p:txBody>
          <a:bodyPr>
            <a:normAutofit/>
          </a:bodyPr>
          <a:lstStyle/>
          <a:p>
            <a:pPr>
              <a:defRPr/>
            </a:pPr>
            <a:r>
              <a:rPr lang="en-IN" sz="3600" dirty="0">
                <a:cs typeface="Arial"/>
              </a:rPr>
              <a:t>INFERENCES FROM LITERATURE SURVEY</a:t>
            </a:r>
            <a:endParaRPr lang="en-IN" sz="3600" dirty="0"/>
          </a:p>
        </p:txBody>
      </p:sp>
      <p:sp>
        <p:nvSpPr>
          <p:cNvPr id="3" name="Content Placeholder 2"/>
          <p:cNvSpPr>
            <a:spLocks noGrp="1"/>
          </p:cNvSpPr>
          <p:nvPr>
            <p:ph idx="1"/>
          </p:nvPr>
        </p:nvSpPr>
        <p:spPr bwMode="auto">
          <a:xfrm>
            <a:off x="457200" y="1371600"/>
            <a:ext cx="8229600" cy="4754563"/>
          </a:xfrm>
        </p:spPr>
        <p:txBody>
          <a:bodyPr/>
          <a:lstStyle/>
          <a:p>
            <a:pPr>
              <a:defRPr/>
            </a:pPr>
            <a:r>
              <a:rPr lang="en-US" sz="2000" b="1"/>
              <a:t>Integration of Classification and Segmentation Tasks</a:t>
            </a:r>
            <a:r>
              <a:rPr lang="en-US" sz="2000"/>
              <a:t>:</a:t>
            </a:r>
            <a:endParaRPr/>
          </a:p>
          <a:p>
            <a:pPr lvl="1" algn="just">
              <a:buFont typeface="Wingdings"/>
              <a:buChar char="§"/>
              <a:defRPr/>
            </a:pPr>
            <a:r>
              <a:rPr lang="en-US" sz="2000"/>
              <a:t>Integrating classification and segmentation tasks into a single workflow using end-to-end training approaches simplifies the overall process and improves the consistency of results. This integration is crucial for developing more efficient and automated diagnostic tools</a:t>
            </a:r>
            <a:r>
              <a:rPr lang="en-US"/>
              <a:t>.</a:t>
            </a:r>
            <a:endParaRPr lang="en-IN"/>
          </a:p>
        </p:txBody>
      </p:sp>
      <p:sp>
        <p:nvSpPr>
          <p:cNvPr id="4" name="Date Placeholder 3"/>
          <p:cNvSpPr>
            <a:spLocks noGrp="1"/>
          </p:cNvSpPr>
          <p:nvPr>
            <p:ph type="dt" sz="half" idx="10"/>
          </p:nvPr>
        </p:nvSpPr>
        <p:spPr bwMode="auto"/>
        <p:txBody>
          <a:bodyPr/>
          <a:lstStyle/>
          <a:p>
            <a:pPr>
              <a:defRPr/>
            </a:pPr>
            <a:fld id="{EB7275DB-6D13-480B-AC77-F5019BDC5287}" type="datetime3">
              <a:rPr lang="en-US"/>
              <a:t>30 January 2025</a:t>
            </a:fld>
            <a:endParaRPr lang="en-US"/>
          </a:p>
        </p:txBody>
      </p:sp>
      <p:sp>
        <p:nvSpPr>
          <p:cNvPr id="5" name="Footer Placeholder 4"/>
          <p:cNvSpPr>
            <a:spLocks noGrp="1"/>
          </p:cNvSpPr>
          <p:nvPr>
            <p:ph type="ftr" sz="quarter" idx="11"/>
          </p:nvPr>
        </p:nvSpPr>
        <p:spPr bwMode="auto"/>
        <p:txBody>
          <a:bodyPr/>
          <a:lstStyle/>
          <a:p>
            <a:pPr>
              <a:defRPr/>
            </a:pPr>
            <a:r>
              <a:rPr lang="en-US"/>
              <a:t>School of Computing - CSE</a:t>
            </a:r>
            <a:endParaRPr/>
          </a:p>
        </p:txBody>
      </p:sp>
      <p:sp>
        <p:nvSpPr>
          <p:cNvPr id="6" name="Slide Number Placeholder 5"/>
          <p:cNvSpPr>
            <a:spLocks noGrp="1"/>
          </p:cNvSpPr>
          <p:nvPr>
            <p:ph type="sldNum" sz="quarter" idx="12"/>
          </p:nvPr>
        </p:nvSpPr>
        <p:spPr bwMode="auto"/>
        <p:txBody>
          <a:bodyPr/>
          <a:lstStyle/>
          <a:p>
            <a:pPr>
              <a:defRPr/>
            </a:pPr>
            <a:fld id="{7B28076C-CE04-4A00-BFAA-A90EA8355859}" type="slidenum">
              <a:rPr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0" name="Title 1"/>
          <p:cNvSpPr>
            <a:spLocks noGrp="1"/>
          </p:cNvSpPr>
          <p:nvPr>
            <p:ph type="title"/>
          </p:nvPr>
        </p:nvSpPr>
        <p:spPr bwMode="auto">
          <a:xfrm>
            <a:off x="495300" y="381000"/>
            <a:ext cx="8229600" cy="655638"/>
          </a:xfrm>
        </p:spPr>
        <p:txBody>
          <a:bodyPr>
            <a:noAutofit/>
          </a:bodyPr>
          <a:lstStyle/>
          <a:p>
            <a:pPr>
              <a:defRPr/>
            </a:pPr>
            <a:r>
              <a:rPr lang="en-US" sz="3600" dirty="0">
                <a:cs typeface="Arial"/>
              </a:rPr>
              <a:t>PROPOSED SYSTEM (1/3)</a:t>
            </a:r>
            <a:endParaRPr sz="3600" dirty="0"/>
          </a:p>
        </p:txBody>
      </p:sp>
      <p:sp>
        <p:nvSpPr>
          <p:cNvPr id="7" name="Date Placeholder 6"/>
          <p:cNvSpPr>
            <a:spLocks noGrp="1"/>
          </p:cNvSpPr>
          <p:nvPr>
            <p:ph type="dt" sz="half" idx="10"/>
          </p:nvPr>
        </p:nvSpPr>
        <p:spPr bwMode="auto"/>
        <p:txBody>
          <a:bodyPr/>
          <a:lstStyle/>
          <a:p>
            <a:pPr>
              <a:defRPr/>
            </a:pPr>
            <a:fld id="{050741AE-4684-4D5C-854F-1AB768A2C094}" type="datetime3">
              <a:rPr lang="en-US"/>
              <a:t>30 January 2025</a:t>
            </a:fld>
            <a:endParaRPr lang="en-US"/>
          </a:p>
        </p:txBody>
      </p:sp>
      <p:sp>
        <p:nvSpPr>
          <p:cNvPr id="8" name="Footer Placeholder 7"/>
          <p:cNvSpPr>
            <a:spLocks noGrp="1"/>
          </p:cNvSpPr>
          <p:nvPr>
            <p:ph type="ftr" sz="quarter" idx="11"/>
          </p:nvPr>
        </p:nvSpPr>
        <p:spPr bwMode="auto"/>
        <p:txBody>
          <a:bodyPr/>
          <a:lstStyle/>
          <a:p>
            <a:pPr>
              <a:defRPr/>
            </a:pPr>
            <a:r>
              <a:rPr lang="en-US"/>
              <a:t>School of Computing - CSE</a:t>
            </a:r>
            <a:endParaRPr/>
          </a:p>
        </p:txBody>
      </p:sp>
      <p:sp>
        <p:nvSpPr>
          <p:cNvPr id="9" name="Slide Number Placeholder 8"/>
          <p:cNvSpPr>
            <a:spLocks noGrp="1"/>
          </p:cNvSpPr>
          <p:nvPr>
            <p:ph type="sldNum" sz="quarter" idx="12"/>
          </p:nvPr>
        </p:nvSpPr>
        <p:spPr bwMode="auto"/>
        <p:txBody>
          <a:bodyPr/>
          <a:lstStyle/>
          <a:p>
            <a:pPr>
              <a:defRPr/>
            </a:pPr>
            <a:fld id="{7B28076C-CE04-4A00-BFAA-A90EA8355859}" type="slidenum">
              <a:rPr lang="en-US"/>
              <a:t>12</a:t>
            </a:fld>
            <a:endParaRPr lang="en-US"/>
          </a:p>
        </p:txBody>
      </p:sp>
      <p:sp>
        <p:nvSpPr>
          <p:cNvPr id="3" name="Content Placeholder 2"/>
          <p:cNvSpPr>
            <a:spLocks noGrp="1"/>
          </p:cNvSpPr>
          <p:nvPr>
            <p:ph idx="1"/>
          </p:nvPr>
        </p:nvSpPr>
        <p:spPr bwMode="auto">
          <a:xfrm>
            <a:off x="457200" y="1295400"/>
            <a:ext cx="8229600" cy="5060950"/>
          </a:xfrm>
        </p:spPr>
        <p:txBody>
          <a:bodyPr>
            <a:noAutofit/>
          </a:bodyPr>
          <a:lstStyle/>
          <a:p>
            <a:pPr>
              <a:buFont typeface="Arial"/>
              <a:buChar char="•"/>
              <a:defRPr/>
            </a:pPr>
            <a:r>
              <a:rPr lang="en-US" sz="2000" b="1" dirty="0"/>
              <a:t>Segmentation Method</a:t>
            </a:r>
            <a:r>
              <a:rPr lang="en-US" sz="2000" dirty="0"/>
              <a:t>:</a:t>
            </a:r>
            <a:endParaRPr dirty="0"/>
          </a:p>
          <a:p>
            <a:pPr marL="742950" lvl="1" indent="-285750">
              <a:buFont typeface="Arial"/>
              <a:buChar char="•"/>
              <a:defRPr/>
            </a:pPr>
            <a:r>
              <a:rPr lang="en-US" sz="2000" dirty="0"/>
              <a:t>Utilizes U-Net architecture with pre-trained backbones (VGG16, ResNet34, InceptionV3) to accurately delineate tumor boundaries.</a:t>
            </a:r>
            <a:endParaRPr dirty="0"/>
          </a:p>
          <a:p>
            <a:pPr marL="742950" lvl="1" indent="-285750">
              <a:buFont typeface="Arial"/>
              <a:buChar char="•"/>
              <a:defRPr/>
            </a:pPr>
            <a:r>
              <a:rPr lang="en-US" sz="2000" dirty="0"/>
              <a:t>Employs data augmentation techniques to enhance model generalization and robustness.</a:t>
            </a:r>
            <a:endParaRPr dirty="0"/>
          </a:p>
          <a:p>
            <a:pPr>
              <a:buFont typeface="Arial"/>
              <a:buChar char="•"/>
              <a:defRPr/>
            </a:pPr>
            <a:r>
              <a:rPr lang="en-US" sz="2000" b="1" dirty="0"/>
              <a:t>Classification Method</a:t>
            </a:r>
            <a:r>
              <a:rPr lang="en-US" sz="2000" dirty="0"/>
              <a:t>:</a:t>
            </a:r>
            <a:endParaRPr dirty="0"/>
          </a:p>
          <a:p>
            <a:pPr marL="742950" lvl="1" indent="-285750">
              <a:buFont typeface="Arial"/>
              <a:buChar char="•"/>
              <a:defRPr/>
            </a:pPr>
            <a:r>
              <a:rPr lang="en-US" sz="2000" dirty="0"/>
              <a:t>Implements a suite of classifiers including Random Forest (RF), Support Vector Machine (SVM), YOLOv5, and Neural Networks (NN) for robust image classification.</a:t>
            </a:r>
            <a:endParaRPr dirty="0"/>
          </a:p>
          <a:p>
            <a:pPr marL="742950" lvl="1" indent="-285750">
              <a:buFont typeface="Arial"/>
              <a:buChar char="•"/>
              <a:defRPr/>
            </a:pPr>
            <a:r>
              <a:rPr lang="en-US" sz="2000" dirty="0"/>
              <a:t>Integrates feature extraction capabilities of CNNs with the decision-making power of traditional classifiers to improve accuracy and reduce false positives.</a:t>
            </a:r>
            <a:endParaRPr dirty="0"/>
          </a:p>
          <a:p>
            <a:pPr>
              <a:buFont typeface="Arial"/>
              <a:buChar char="•"/>
              <a:defRPr/>
            </a:pPr>
            <a:r>
              <a:rPr lang="en-US" sz="2000" b="1" dirty="0"/>
              <a:t>Training and Validation</a:t>
            </a:r>
            <a:r>
              <a:rPr lang="en-US" sz="2000" dirty="0"/>
              <a:t>:</a:t>
            </a:r>
            <a:endParaRPr dirty="0"/>
          </a:p>
          <a:p>
            <a:pPr marL="742950" lvl="1" indent="-285750">
              <a:buFont typeface="Arial"/>
              <a:buChar char="•"/>
              <a:defRPr/>
            </a:pPr>
            <a:r>
              <a:rPr lang="en-US" sz="2000" dirty="0"/>
              <a:t>Trains models on a comprehensive dataset of labeled MRI scans using end-to-end approaches.</a:t>
            </a:r>
            <a:endParaRPr dirty="0"/>
          </a:p>
          <a:p>
            <a:pPr marL="457200" lvl="1" indent="0">
              <a:buNone/>
              <a:defRPr/>
            </a:pPr>
            <a:endParaRPr lang="en-US" sz="2000" b="1" dirty="0">
              <a:latin typeface="Arial"/>
              <a:ea typeface="Arimo"/>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normAutofit/>
          </a:bodyPr>
          <a:lstStyle/>
          <a:p>
            <a:pPr>
              <a:defRPr/>
            </a:pPr>
            <a:r>
              <a:rPr lang="en-US" sz="3600">
                <a:cs typeface="Arial"/>
              </a:rPr>
              <a:t>PROPOSED SYSTEM </a:t>
            </a:r>
            <a:endParaRPr lang="en-IN" sz="3600"/>
          </a:p>
        </p:txBody>
      </p:sp>
      <p:sp>
        <p:nvSpPr>
          <p:cNvPr id="3" name="Content Placeholder 2"/>
          <p:cNvSpPr>
            <a:spLocks noGrp="1"/>
          </p:cNvSpPr>
          <p:nvPr>
            <p:ph idx="1"/>
          </p:nvPr>
        </p:nvSpPr>
        <p:spPr bwMode="auto">
          <a:xfrm>
            <a:off x="0" y="1371600"/>
            <a:ext cx="8686800" cy="4754563"/>
          </a:xfrm>
        </p:spPr>
        <p:txBody>
          <a:bodyPr/>
          <a:lstStyle/>
          <a:p>
            <a:pPr lvl="1">
              <a:buFont typeface="Arial"/>
              <a:buChar char="•"/>
              <a:defRPr/>
            </a:pPr>
            <a:r>
              <a:rPr lang="en-US" sz="2000"/>
              <a:t>Employs cross-validation and hyper parameter tuning to optimize performance and mitigate overfitting. </a:t>
            </a:r>
            <a:endParaRPr/>
          </a:p>
          <a:p>
            <a:pPr marL="457200" lvl="1" indent="0">
              <a:buNone/>
              <a:defRPr/>
            </a:pPr>
            <a:endParaRPr lang="en-US" sz="2000"/>
          </a:p>
          <a:p>
            <a:pPr lvl="1">
              <a:buFont typeface="Arial"/>
              <a:buChar char="•"/>
              <a:defRPr/>
            </a:pPr>
            <a:r>
              <a:rPr lang="en-US" sz="2000" b="1">
                <a:latin typeface="Arial"/>
                <a:ea typeface="Arimo"/>
              </a:rPr>
              <a:t> Advantages of Proposed System:</a:t>
            </a:r>
            <a:endParaRPr/>
          </a:p>
          <a:p>
            <a:pPr lvl="1">
              <a:buFont typeface="Wingdings"/>
              <a:buChar char="§"/>
              <a:defRPr/>
            </a:pPr>
            <a:r>
              <a:rPr lang="en-US" sz="2000">
                <a:latin typeface="Arial"/>
                <a:ea typeface="Arimo"/>
              </a:rPr>
              <a:t>It avoids overfitting and under fitting problems during training. </a:t>
            </a:r>
            <a:endParaRPr/>
          </a:p>
          <a:p>
            <a:pPr lvl="1">
              <a:buFont typeface="Wingdings"/>
              <a:buChar char="§"/>
              <a:defRPr/>
            </a:pPr>
            <a:r>
              <a:rPr lang="en-US" sz="2000">
                <a:latin typeface="Arial"/>
                <a:ea typeface="Arimo"/>
              </a:rPr>
              <a:t>It have good convergence ratio.</a:t>
            </a:r>
            <a:endParaRPr/>
          </a:p>
          <a:p>
            <a:pPr lvl="1">
              <a:buFont typeface="Wingdings"/>
              <a:buChar char="§"/>
              <a:defRPr/>
            </a:pPr>
            <a:r>
              <a:rPr lang="en-US" sz="2000">
                <a:latin typeface="Arial"/>
                <a:ea typeface="Arimo"/>
              </a:rPr>
              <a:t>The binary cross entropy is applied to minimize the loss.</a:t>
            </a:r>
            <a:endParaRPr/>
          </a:p>
          <a:p>
            <a:pPr lvl="1">
              <a:buFont typeface="Wingdings"/>
              <a:buChar char="§"/>
              <a:defRPr/>
            </a:pPr>
            <a:r>
              <a:rPr lang="en-US" sz="2000">
                <a:latin typeface="Arial"/>
                <a:ea typeface="Arimo"/>
              </a:rPr>
              <a:t>The accuracy is improved.</a:t>
            </a:r>
            <a:endParaRPr/>
          </a:p>
          <a:p>
            <a:pPr>
              <a:buFont typeface="Wingdings"/>
              <a:buChar char="§"/>
              <a:defRPr/>
            </a:pPr>
            <a:endParaRPr lang="en-IN" sz="2000"/>
          </a:p>
        </p:txBody>
      </p:sp>
      <p:sp>
        <p:nvSpPr>
          <p:cNvPr id="4" name="Date Placeholder 3"/>
          <p:cNvSpPr>
            <a:spLocks noGrp="1"/>
          </p:cNvSpPr>
          <p:nvPr>
            <p:ph type="dt" sz="half" idx="10"/>
          </p:nvPr>
        </p:nvSpPr>
        <p:spPr bwMode="auto"/>
        <p:txBody>
          <a:bodyPr/>
          <a:lstStyle/>
          <a:p>
            <a:pPr>
              <a:defRPr/>
            </a:pPr>
            <a:fld id="{EB7275DB-6D13-480B-AC77-F5019BDC5287}" type="datetime3">
              <a:rPr lang="en-US"/>
              <a:t>30 January 2025</a:t>
            </a:fld>
            <a:endParaRPr lang="en-US"/>
          </a:p>
        </p:txBody>
      </p:sp>
      <p:sp>
        <p:nvSpPr>
          <p:cNvPr id="5" name="Footer Placeholder 4"/>
          <p:cNvSpPr>
            <a:spLocks noGrp="1"/>
          </p:cNvSpPr>
          <p:nvPr>
            <p:ph type="ftr" sz="quarter" idx="11"/>
          </p:nvPr>
        </p:nvSpPr>
        <p:spPr bwMode="auto"/>
        <p:txBody>
          <a:bodyPr/>
          <a:lstStyle/>
          <a:p>
            <a:pPr>
              <a:defRPr/>
            </a:pPr>
            <a:r>
              <a:rPr lang="en-US"/>
              <a:t>School of Computing - CSE</a:t>
            </a:r>
            <a:endParaRPr/>
          </a:p>
        </p:txBody>
      </p:sp>
      <p:sp>
        <p:nvSpPr>
          <p:cNvPr id="6" name="Slide Number Placeholder 5"/>
          <p:cNvSpPr>
            <a:spLocks noGrp="1"/>
          </p:cNvSpPr>
          <p:nvPr>
            <p:ph type="sldNum" sz="quarter" idx="12"/>
          </p:nvPr>
        </p:nvSpPr>
        <p:spPr bwMode="auto"/>
        <p:txBody>
          <a:bodyPr/>
          <a:lstStyle/>
          <a:p>
            <a:pPr>
              <a:defRPr/>
            </a:pPr>
            <a:fld id="{7B28076C-CE04-4A00-BFAA-A90EA8355859}" type="slidenum">
              <a:rPr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normAutofit/>
          </a:bodyPr>
          <a:lstStyle/>
          <a:p>
            <a:pPr>
              <a:defRPr/>
            </a:pPr>
            <a:r>
              <a:rPr lang="en-IN" sz="3600" dirty="0"/>
              <a:t>PROPOSED SYSTEM(2/3)</a:t>
            </a:r>
            <a:endParaRPr sz="3600" dirty="0"/>
          </a:p>
        </p:txBody>
      </p:sp>
      <p:sp>
        <p:nvSpPr>
          <p:cNvPr id="4" name="Content Placeholder 3"/>
          <p:cNvSpPr>
            <a:spLocks noGrp="1"/>
          </p:cNvSpPr>
          <p:nvPr>
            <p:ph idx="1"/>
          </p:nvPr>
        </p:nvSpPr>
        <p:spPr bwMode="auto">
          <a:xfrm>
            <a:off x="533400" y="1595239"/>
            <a:ext cx="8229600" cy="4525963"/>
          </a:xfrm>
        </p:spPr>
        <p:txBody>
          <a:bodyPr/>
          <a:lstStyle/>
          <a:p>
            <a:pPr>
              <a:defRPr/>
            </a:pPr>
            <a:r>
              <a:rPr lang="en-IN" dirty="0"/>
              <a:t>System Architecture:</a:t>
            </a:r>
            <a:endParaRPr dirty="0"/>
          </a:p>
        </p:txBody>
      </p:sp>
      <p:sp>
        <p:nvSpPr>
          <p:cNvPr id="5" name="Rectangle 4"/>
          <p:cNvSpPr/>
          <p:nvPr/>
        </p:nvSpPr>
        <p:spPr bwMode="auto">
          <a:xfrm>
            <a:off x="711200" y="2244436"/>
            <a:ext cx="1485900" cy="930564"/>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en-US" sz="1350">
                <a:solidFill>
                  <a:schemeClr val="tx1"/>
                </a:solidFill>
              </a:rPr>
              <a:t>Input MRI brain Images</a:t>
            </a:r>
            <a:endParaRPr lang="en-IN" sz="1350">
              <a:solidFill>
                <a:schemeClr val="tx1"/>
              </a:solidFill>
            </a:endParaRPr>
          </a:p>
        </p:txBody>
      </p:sp>
      <p:sp>
        <p:nvSpPr>
          <p:cNvPr id="6" name="Rectangle 5"/>
          <p:cNvSpPr/>
          <p:nvPr/>
        </p:nvSpPr>
        <p:spPr bwMode="auto">
          <a:xfrm>
            <a:off x="2520950" y="2244436"/>
            <a:ext cx="1485900" cy="930564"/>
          </a:xfrm>
          <a:prstGeom prst="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en-US" sz="1350">
                <a:solidFill>
                  <a:schemeClr val="tx1"/>
                </a:solidFill>
              </a:rPr>
              <a:t>Preprocessing (Filtering, Enhancement)</a:t>
            </a:r>
            <a:endParaRPr lang="en-IN" sz="1350">
              <a:solidFill>
                <a:schemeClr val="tx1"/>
              </a:solidFill>
            </a:endParaRPr>
          </a:p>
        </p:txBody>
      </p:sp>
      <p:sp>
        <p:nvSpPr>
          <p:cNvPr id="7" name="Rectangle 6"/>
          <p:cNvSpPr/>
          <p:nvPr/>
        </p:nvSpPr>
        <p:spPr bwMode="auto">
          <a:xfrm>
            <a:off x="4394202" y="2244436"/>
            <a:ext cx="1485900" cy="930564"/>
          </a:xfrm>
          <a:prstGeom prst="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en-US" sz="1350">
                <a:solidFill>
                  <a:schemeClr val="tx1"/>
                </a:solidFill>
              </a:rPr>
              <a:t>Segmentation (U-Net)</a:t>
            </a:r>
            <a:endParaRPr lang="en-IN" sz="1350">
              <a:solidFill>
                <a:schemeClr val="tx1"/>
              </a:solidFill>
            </a:endParaRPr>
          </a:p>
        </p:txBody>
      </p:sp>
      <p:sp>
        <p:nvSpPr>
          <p:cNvPr id="8" name="Rectangle 7"/>
          <p:cNvSpPr/>
          <p:nvPr/>
        </p:nvSpPr>
        <p:spPr bwMode="auto">
          <a:xfrm>
            <a:off x="6159502" y="2244436"/>
            <a:ext cx="1485900" cy="930564"/>
          </a:xfrm>
          <a:prstGeom prst="rect">
            <a:avLst/>
          </a:prstGeom>
          <a:solidFill>
            <a:schemeClr val="accent2">
              <a:lumMod val="40000"/>
              <a:lumOff val="60000"/>
            </a:schemeClr>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en-US" sz="1350">
                <a:solidFill>
                  <a:schemeClr val="tx1"/>
                </a:solidFill>
              </a:rPr>
              <a:t>Thresholding (Segmented Output)</a:t>
            </a:r>
            <a:endParaRPr lang="en-IN" sz="1350">
              <a:solidFill>
                <a:schemeClr val="tx1"/>
              </a:solidFill>
            </a:endParaRPr>
          </a:p>
        </p:txBody>
      </p:sp>
      <p:sp>
        <p:nvSpPr>
          <p:cNvPr id="11" name="Rectangle 10"/>
          <p:cNvSpPr/>
          <p:nvPr/>
        </p:nvSpPr>
        <p:spPr bwMode="auto">
          <a:xfrm>
            <a:off x="2927840" y="5276174"/>
            <a:ext cx="1485900" cy="93056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en-IN" sz="1350">
                <a:solidFill>
                  <a:schemeClr val="tx1"/>
                </a:solidFill>
              </a:rPr>
              <a:t>[RF] [SVM] [YOLOv5] </a:t>
            </a:r>
            <a:endParaRPr/>
          </a:p>
        </p:txBody>
      </p:sp>
      <p:sp>
        <p:nvSpPr>
          <p:cNvPr id="12" name="Rectangle 11"/>
          <p:cNvSpPr/>
          <p:nvPr/>
        </p:nvSpPr>
        <p:spPr bwMode="auto">
          <a:xfrm>
            <a:off x="855431" y="5284301"/>
            <a:ext cx="2073563" cy="930564"/>
          </a:xfrm>
          <a:prstGeom prst="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en-IN" sz="1350">
                <a:solidFill>
                  <a:schemeClr val="tx1"/>
                </a:solidFill>
              </a:rPr>
              <a:t>[ Classified MRI Images ]</a:t>
            </a:r>
            <a:endParaRPr/>
          </a:p>
        </p:txBody>
      </p:sp>
      <p:cxnSp>
        <p:nvCxnSpPr>
          <p:cNvPr id="15" name="Straight Arrow Connector 14"/>
          <p:cNvCxnSpPr>
            <a:cxnSpLocks/>
          </p:cNvCxnSpPr>
          <p:nvPr/>
        </p:nvCxnSpPr>
        <p:spPr bwMode="auto">
          <a:xfrm>
            <a:off x="2273300" y="2898775"/>
            <a:ext cx="17145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 name="Right Arrow 2"/>
          <p:cNvSpPr/>
          <p:nvPr/>
        </p:nvSpPr>
        <p:spPr bwMode="auto">
          <a:xfrm>
            <a:off x="2273300" y="2687782"/>
            <a:ext cx="247650" cy="299893"/>
          </a:xfrm>
          <a:prstGeom prst="rightArrow">
            <a:avLst>
              <a:gd name="adj1" fmla="val 50000"/>
              <a:gd name="adj2" fmla="val 5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a:p>
        </p:txBody>
      </p:sp>
      <p:sp>
        <p:nvSpPr>
          <p:cNvPr id="14" name="Rounded Rectangle 13"/>
          <p:cNvSpPr/>
          <p:nvPr/>
        </p:nvSpPr>
        <p:spPr bwMode="auto">
          <a:xfrm>
            <a:off x="533400" y="3525135"/>
            <a:ext cx="4508504" cy="976817"/>
          </a:xfrm>
          <a:prstGeom prst="roundRect">
            <a:avLst>
              <a:gd name="adj" fmla="val 16667"/>
            </a:avLst>
          </a:prstGeom>
          <a:solidFill>
            <a:schemeClr val="accent3">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a:solidFill>
                  <a:schemeClr val="tx1"/>
                </a:solidFill>
              </a:rPr>
              <a:t>[ Feature Extraction ]</a:t>
            </a:r>
            <a:endParaRPr/>
          </a:p>
          <a:p>
            <a:pPr algn="ctr">
              <a:defRPr/>
            </a:pPr>
            <a:endParaRPr lang="en-GB"/>
          </a:p>
        </p:txBody>
      </p:sp>
      <p:sp>
        <p:nvSpPr>
          <p:cNvPr id="18" name="Left Arrow 17"/>
          <p:cNvSpPr/>
          <p:nvPr/>
        </p:nvSpPr>
        <p:spPr bwMode="auto">
          <a:xfrm>
            <a:off x="4988215" y="3779982"/>
            <a:ext cx="1190338" cy="401782"/>
          </a:xfrm>
          <a:prstGeom prst="leftArrow">
            <a:avLst>
              <a:gd name="adj1" fmla="val 50000"/>
              <a:gd name="adj2" fmla="val 50000"/>
            </a:avLst>
          </a:prstGeom>
          <a:solidFill>
            <a:schemeClr val="accent1">
              <a:lumMod val="40000"/>
              <a:lumOff val="6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a:p>
        </p:txBody>
      </p:sp>
      <p:sp>
        <p:nvSpPr>
          <p:cNvPr id="22" name="Down Arrow Callout 21"/>
          <p:cNvSpPr/>
          <p:nvPr/>
        </p:nvSpPr>
        <p:spPr bwMode="auto">
          <a:xfrm>
            <a:off x="1773382" y="4501953"/>
            <a:ext cx="2233468" cy="859756"/>
          </a:xfrm>
          <a:prstGeom prst="downArrowCallout">
            <a:avLst>
              <a:gd name="adj1" fmla="val 25000"/>
              <a:gd name="adj2" fmla="val 25000"/>
              <a:gd name="adj3" fmla="val 25000"/>
              <a:gd name="adj4" fmla="val 64977"/>
            </a:avLst>
          </a:prstGeom>
          <a:solidFill>
            <a:schemeClr val="bg1"/>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a:p>
        </p:txBody>
      </p:sp>
      <p:sp>
        <p:nvSpPr>
          <p:cNvPr id="25" name="Striped Right Arrow 24"/>
          <p:cNvSpPr/>
          <p:nvPr/>
        </p:nvSpPr>
        <p:spPr bwMode="auto">
          <a:xfrm>
            <a:off x="4413740" y="5583382"/>
            <a:ext cx="1694962" cy="537820"/>
          </a:xfrm>
          <a:prstGeom prst="stripedRightArrow">
            <a:avLst>
              <a:gd name="adj1" fmla="val 50000"/>
              <a:gd name="adj2" fmla="val 5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a:p>
        </p:txBody>
      </p:sp>
      <p:sp>
        <p:nvSpPr>
          <p:cNvPr id="26" name="Bevel 25"/>
          <p:cNvSpPr/>
          <p:nvPr/>
        </p:nvSpPr>
        <p:spPr bwMode="auto">
          <a:xfrm>
            <a:off x="6079259" y="5361708"/>
            <a:ext cx="1748559" cy="983132"/>
          </a:xfrm>
          <a:prstGeom prst="bevel">
            <a:avLst>
              <a:gd name="adj" fmla="val 12500"/>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GB">
                <a:solidFill>
                  <a:schemeClr val="tx1"/>
                </a:solidFill>
              </a:rPr>
              <a:t>OUTPUT IMAGE</a:t>
            </a:r>
            <a:endParaRPr/>
          </a:p>
        </p:txBody>
      </p:sp>
      <p:sp>
        <p:nvSpPr>
          <p:cNvPr id="27" name="Can 26"/>
          <p:cNvSpPr/>
          <p:nvPr/>
        </p:nvSpPr>
        <p:spPr bwMode="auto">
          <a:xfrm>
            <a:off x="6220113" y="3525135"/>
            <a:ext cx="1466849" cy="1612936"/>
          </a:xfrm>
          <a:prstGeom prst="can">
            <a:avLst>
              <a:gd name="adj" fmla="val 25000"/>
            </a:avLst>
          </a:prstGeom>
          <a:solidFill>
            <a:schemeClr val="bg1"/>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1600" b="1">
                <a:solidFill>
                  <a:schemeClr val="tx1"/>
                </a:solidFill>
              </a:rPr>
              <a:t>[VGG16] [Resnet34] [InceptionV3]</a:t>
            </a:r>
            <a:endParaRPr/>
          </a:p>
          <a:p>
            <a:pPr algn="ctr">
              <a:defRPr/>
            </a:pPr>
            <a:endParaRPr lang="en-GB"/>
          </a:p>
        </p:txBody>
      </p:sp>
      <p:sp>
        <p:nvSpPr>
          <p:cNvPr id="28" name="Right Arrow 27"/>
          <p:cNvSpPr/>
          <p:nvPr/>
        </p:nvSpPr>
        <p:spPr bwMode="auto">
          <a:xfrm>
            <a:off x="4046107" y="2570444"/>
            <a:ext cx="284593" cy="360940"/>
          </a:xfrm>
          <a:prstGeom prst="rightArrow">
            <a:avLst>
              <a:gd name="adj1" fmla="val 50000"/>
              <a:gd name="adj2" fmla="val 5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a:p>
        </p:txBody>
      </p:sp>
      <p:sp>
        <p:nvSpPr>
          <p:cNvPr id="29" name="Right Arrow 28"/>
          <p:cNvSpPr/>
          <p:nvPr/>
        </p:nvSpPr>
        <p:spPr bwMode="auto">
          <a:xfrm>
            <a:off x="5897707" y="2600967"/>
            <a:ext cx="247650" cy="299893"/>
          </a:xfrm>
          <a:prstGeom prst="rightArrow">
            <a:avLst>
              <a:gd name="adj1" fmla="val 50000"/>
              <a:gd name="adj2" fmla="val 5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a:p>
        </p:txBody>
      </p:sp>
      <p:sp>
        <p:nvSpPr>
          <p:cNvPr id="30" name="Down Arrow 29"/>
          <p:cNvSpPr/>
          <p:nvPr/>
        </p:nvSpPr>
        <p:spPr bwMode="auto">
          <a:xfrm>
            <a:off x="6733309" y="3175000"/>
            <a:ext cx="220229" cy="350135"/>
          </a:xfrm>
          <a:prstGeom prst="downArrow">
            <a:avLst>
              <a:gd name="adj1" fmla="val 50000"/>
              <a:gd name="adj2" fmla="val 50000"/>
            </a:avLst>
          </a:prstGeom>
          <a:solidFill>
            <a:schemeClr val="bg1"/>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9FEC58-D4EB-7172-E96F-F941D182E44A}"/>
              </a:ext>
            </a:extLst>
          </p:cNvPr>
          <p:cNvSpPr>
            <a:spLocks noGrp="1"/>
          </p:cNvSpPr>
          <p:nvPr>
            <p:ph type="title"/>
          </p:nvPr>
        </p:nvSpPr>
        <p:spPr/>
        <p:txBody>
          <a:bodyPr>
            <a:normAutofit/>
          </a:bodyPr>
          <a:lstStyle/>
          <a:p>
            <a:r>
              <a:rPr lang="en-IN" sz="3600" dirty="0"/>
              <a:t>PROPOSED SYSTEM(3/3)</a:t>
            </a:r>
          </a:p>
        </p:txBody>
      </p:sp>
      <p:sp>
        <p:nvSpPr>
          <p:cNvPr id="3" name="Content Placeholder 2">
            <a:extLst>
              <a:ext uri="{FF2B5EF4-FFF2-40B4-BE49-F238E27FC236}">
                <a16:creationId xmlns:a16="http://schemas.microsoft.com/office/drawing/2014/main" id="{5DEEF779-0B99-5BB1-CE5F-328373679C85}"/>
              </a:ext>
            </a:extLst>
          </p:cNvPr>
          <p:cNvSpPr>
            <a:spLocks noGrp="1"/>
          </p:cNvSpPr>
          <p:nvPr>
            <p:ph idx="1"/>
          </p:nvPr>
        </p:nvSpPr>
        <p:spPr>
          <a:xfrm>
            <a:off x="457200" y="1280160"/>
            <a:ext cx="8229600" cy="4846003"/>
          </a:xfrm>
        </p:spPr>
        <p:txBody>
          <a:bodyPr>
            <a:normAutofit/>
          </a:bodyPr>
          <a:lstStyle/>
          <a:p>
            <a:pPr marL="0" indent="0">
              <a:buNone/>
            </a:pPr>
            <a:r>
              <a:rPr lang="en-IN" sz="2000" b="1" dirty="0"/>
              <a:t>Modules Employed</a:t>
            </a:r>
          </a:p>
          <a:p>
            <a:pPr marL="0" indent="0" algn="just">
              <a:lnSpc>
                <a:spcPct val="115000"/>
              </a:lnSpc>
              <a:spcAft>
                <a:spcPts val="800"/>
              </a:spcAft>
              <a:buNone/>
            </a:pPr>
            <a:endParaRPr lang="en-IN" sz="2000" b="1" dirty="0"/>
          </a:p>
          <a:p>
            <a:pPr marL="0" indent="0" algn="just">
              <a:lnSpc>
                <a:spcPct val="115000"/>
              </a:lnSpc>
              <a:spcAft>
                <a:spcPts val="800"/>
              </a:spcAft>
              <a:buNone/>
            </a:pPr>
            <a:r>
              <a:rPr lang="en-IN" sz="2000" b="1" kern="100" dirty="0">
                <a:effectLst/>
                <a:latin typeface="Tohoma"/>
                <a:ea typeface="Calibri" panose="020F0502020204030204" pitchFamily="34" charset="0"/>
                <a:cs typeface="Cordia New" panose="020B0304020202020204" pitchFamily="34" charset="-34"/>
              </a:rPr>
              <a:t>Module 1</a:t>
            </a:r>
          </a:p>
          <a:p>
            <a:pPr marL="0" indent="0" algn="just">
              <a:lnSpc>
                <a:spcPct val="115000"/>
              </a:lnSpc>
              <a:spcAft>
                <a:spcPts val="800"/>
              </a:spcAft>
              <a:buNone/>
            </a:pPr>
            <a:r>
              <a:rPr lang="en-IN" sz="2000" b="1" kern="100" dirty="0">
                <a:effectLst/>
                <a:latin typeface="Tohoma"/>
                <a:ea typeface="Calibri" panose="020F0502020204030204" pitchFamily="34" charset="0"/>
                <a:cs typeface="Cordia New" panose="020B0304020202020204" pitchFamily="34" charset="-34"/>
              </a:rPr>
              <a:t>Enhancing MRI Image Segmentation and Classification</a:t>
            </a:r>
            <a:endParaRPr lang="en-IN" sz="2000" kern="100" dirty="0">
              <a:effectLst/>
              <a:latin typeface="Tohoma"/>
              <a:ea typeface="Calibri" panose="020F0502020204030204" pitchFamily="34" charset="0"/>
              <a:cs typeface="Cordia New" panose="020B0304020202020204" pitchFamily="34" charset="-34"/>
            </a:endParaRPr>
          </a:p>
          <a:p>
            <a:pPr marL="0" indent="0" algn="just">
              <a:lnSpc>
                <a:spcPct val="115000"/>
              </a:lnSpc>
              <a:spcAft>
                <a:spcPts val="800"/>
              </a:spcAft>
              <a:buNone/>
            </a:pPr>
            <a:r>
              <a:rPr lang="en-IN" sz="2000" kern="100" dirty="0">
                <a:effectLst/>
                <a:latin typeface="Tohoma"/>
                <a:ea typeface="Calibri" panose="020F0502020204030204" pitchFamily="34" charset="0"/>
                <a:cs typeface="Cordia New" panose="020B0304020202020204" pitchFamily="34" charset="-34"/>
              </a:rPr>
              <a:t>This module focuses on overcoming the limitations of traditional MRI image interpretation by applying advanced deep learning techniques to enhance both the segmentation and classification of brain </a:t>
            </a:r>
            <a:r>
              <a:rPr lang="en-IN" sz="2000" kern="100" dirty="0" err="1">
                <a:effectLst/>
                <a:latin typeface="Tohoma"/>
                <a:ea typeface="Calibri" panose="020F0502020204030204" pitchFamily="34" charset="0"/>
                <a:cs typeface="Cordia New" panose="020B0304020202020204" pitchFamily="34" charset="-34"/>
              </a:rPr>
              <a:t>tumor</a:t>
            </a:r>
            <a:r>
              <a:rPr lang="en-IN" sz="2000" kern="100" dirty="0">
                <a:effectLst/>
                <a:latin typeface="Tohoma"/>
                <a:ea typeface="Calibri" panose="020F0502020204030204" pitchFamily="34" charset="0"/>
                <a:cs typeface="Cordia New" panose="020B0304020202020204" pitchFamily="34" charset="-34"/>
              </a:rPr>
              <a:t> images. The module emphasizes improving the speed, objectivity, and accuracy of MRI analysis, aiming to support radiologists and healthcare professionals by providing reliable and consistent results.</a:t>
            </a:r>
          </a:p>
          <a:p>
            <a:endParaRPr lang="en-IN" sz="2000" b="1" dirty="0"/>
          </a:p>
        </p:txBody>
      </p:sp>
      <p:sp>
        <p:nvSpPr>
          <p:cNvPr id="4" name="Date Placeholder 3">
            <a:extLst>
              <a:ext uri="{FF2B5EF4-FFF2-40B4-BE49-F238E27FC236}">
                <a16:creationId xmlns:a16="http://schemas.microsoft.com/office/drawing/2014/main" id="{419831AF-C3D1-50FA-DA0C-A1B526E30558}"/>
              </a:ext>
            </a:extLst>
          </p:cNvPr>
          <p:cNvSpPr>
            <a:spLocks noGrp="1"/>
          </p:cNvSpPr>
          <p:nvPr>
            <p:ph type="dt" sz="half" idx="10"/>
          </p:nvPr>
        </p:nvSpPr>
        <p:spPr/>
        <p:txBody>
          <a:bodyPr/>
          <a:lstStyle/>
          <a:p>
            <a:pPr>
              <a:defRPr/>
            </a:pPr>
            <a:fld id="{EB7275DB-6D13-480B-AC77-F5019BDC5287}" type="datetime3">
              <a:rPr lang="en-US" smtClean="0"/>
              <a:t>30 January 2025</a:t>
            </a:fld>
            <a:endParaRPr lang="en-US"/>
          </a:p>
        </p:txBody>
      </p:sp>
      <p:sp>
        <p:nvSpPr>
          <p:cNvPr id="5" name="Footer Placeholder 4">
            <a:extLst>
              <a:ext uri="{FF2B5EF4-FFF2-40B4-BE49-F238E27FC236}">
                <a16:creationId xmlns:a16="http://schemas.microsoft.com/office/drawing/2014/main" id="{6DA0C1B6-0A5F-02C8-5264-CE24D2FDBD55}"/>
              </a:ext>
            </a:extLst>
          </p:cNvPr>
          <p:cNvSpPr>
            <a:spLocks noGrp="1"/>
          </p:cNvSpPr>
          <p:nvPr>
            <p:ph type="ftr" sz="quarter" idx="11"/>
          </p:nvPr>
        </p:nvSpPr>
        <p:spPr/>
        <p:txBody>
          <a:bodyPr/>
          <a:lstStyle/>
          <a:p>
            <a:pPr>
              <a:defRPr/>
            </a:pPr>
            <a:r>
              <a:rPr lang="en-US"/>
              <a:t>School of Computing - CSE</a:t>
            </a:r>
          </a:p>
        </p:txBody>
      </p:sp>
      <p:sp>
        <p:nvSpPr>
          <p:cNvPr id="6" name="Slide Number Placeholder 5">
            <a:extLst>
              <a:ext uri="{FF2B5EF4-FFF2-40B4-BE49-F238E27FC236}">
                <a16:creationId xmlns:a16="http://schemas.microsoft.com/office/drawing/2014/main" id="{67E4C5EE-51EC-8B75-2978-B6381A9C4A8E}"/>
              </a:ext>
            </a:extLst>
          </p:cNvPr>
          <p:cNvSpPr>
            <a:spLocks noGrp="1"/>
          </p:cNvSpPr>
          <p:nvPr>
            <p:ph type="sldNum" sz="quarter" idx="12"/>
          </p:nvPr>
        </p:nvSpPr>
        <p:spPr/>
        <p:txBody>
          <a:bodyPr/>
          <a:lstStyle/>
          <a:p>
            <a:pPr>
              <a:defRPr/>
            </a:pPr>
            <a:fld id="{7B28076C-CE04-4A00-BFAA-A90EA8355859}" type="slidenum">
              <a:rPr lang="en-US" smtClean="0"/>
              <a:t>15</a:t>
            </a:fld>
            <a:endParaRPr lang="en-US"/>
          </a:p>
        </p:txBody>
      </p:sp>
    </p:spTree>
    <p:extLst>
      <p:ext uri="{BB962C8B-B14F-4D97-AF65-F5344CB8AC3E}">
        <p14:creationId xmlns:p14="http://schemas.microsoft.com/office/powerpoint/2010/main" val="33267650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E8F997-F24F-66CB-5DDC-6BED88D268D8}"/>
              </a:ext>
            </a:extLst>
          </p:cNvPr>
          <p:cNvSpPr>
            <a:spLocks noGrp="1"/>
          </p:cNvSpPr>
          <p:nvPr>
            <p:ph type="title"/>
          </p:nvPr>
        </p:nvSpPr>
        <p:spPr/>
        <p:txBody>
          <a:bodyPr>
            <a:normAutofit/>
          </a:bodyPr>
          <a:lstStyle/>
          <a:p>
            <a:r>
              <a:rPr lang="en-IN" sz="3600" dirty="0"/>
              <a:t>PROPOSED SYSTEM(3/3)</a:t>
            </a:r>
          </a:p>
        </p:txBody>
      </p:sp>
      <p:sp>
        <p:nvSpPr>
          <p:cNvPr id="3" name="Content Placeholder 2">
            <a:extLst>
              <a:ext uri="{FF2B5EF4-FFF2-40B4-BE49-F238E27FC236}">
                <a16:creationId xmlns:a16="http://schemas.microsoft.com/office/drawing/2014/main" id="{322579C5-9378-7A60-CEB7-14AE40850021}"/>
              </a:ext>
            </a:extLst>
          </p:cNvPr>
          <p:cNvSpPr>
            <a:spLocks noGrp="1"/>
          </p:cNvSpPr>
          <p:nvPr>
            <p:ph idx="1"/>
          </p:nvPr>
        </p:nvSpPr>
        <p:spPr>
          <a:xfrm>
            <a:off x="457200" y="1600200"/>
            <a:ext cx="8229600" cy="4672584"/>
          </a:xfrm>
        </p:spPr>
        <p:txBody>
          <a:bodyPr>
            <a:normAutofit/>
          </a:bodyPr>
          <a:lstStyle/>
          <a:p>
            <a:pPr marL="0" indent="0" algn="just">
              <a:lnSpc>
                <a:spcPct val="115000"/>
              </a:lnSpc>
              <a:spcAft>
                <a:spcPts val="800"/>
              </a:spcAft>
              <a:buNone/>
            </a:pPr>
            <a:r>
              <a:rPr lang="en-IN" sz="2000" b="1" kern="100" dirty="0">
                <a:effectLst/>
                <a:latin typeface="+mj-lt"/>
                <a:ea typeface="Calibri" panose="020F0502020204030204" pitchFamily="34" charset="0"/>
                <a:cs typeface="Cordia New" panose="020B0304020202020204" pitchFamily="34" charset="-34"/>
              </a:rPr>
              <a:t>Module 2</a:t>
            </a:r>
            <a:endParaRPr lang="en-IN" sz="2000" kern="100" dirty="0">
              <a:effectLst/>
              <a:latin typeface="+mj-lt"/>
              <a:ea typeface="Calibri" panose="020F0502020204030204" pitchFamily="34" charset="0"/>
              <a:cs typeface="Cordia New" panose="020B0304020202020204" pitchFamily="34" charset="-34"/>
            </a:endParaRPr>
          </a:p>
          <a:p>
            <a:pPr marL="0" indent="0" algn="just">
              <a:lnSpc>
                <a:spcPct val="115000"/>
              </a:lnSpc>
              <a:spcAft>
                <a:spcPts val="800"/>
              </a:spcAft>
              <a:buNone/>
            </a:pPr>
            <a:r>
              <a:rPr lang="en-IN" sz="2000" b="1" kern="100" dirty="0">
                <a:effectLst/>
                <a:latin typeface="+mj-lt"/>
                <a:ea typeface="Calibri" panose="020F0502020204030204" pitchFamily="34" charset="0"/>
                <a:cs typeface="Cordia New" panose="020B0304020202020204" pitchFamily="34" charset="-34"/>
              </a:rPr>
              <a:t>Integrating and Utilizing Deep Learning Models</a:t>
            </a:r>
            <a:endParaRPr lang="en-IN" sz="2000" kern="100" dirty="0">
              <a:effectLst/>
              <a:latin typeface="+mj-lt"/>
              <a:ea typeface="Calibri" panose="020F0502020204030204" pitchFamily="34" charset="0"/>
              <a:cs typeface="Cordia New" panose="020B0304020202020204" pitchFamily="34" charset="-34"/>
            </a:endParaRPr>
          </a:p>
          <a:p>
            <a:pPr marL="0" indent="0" algn="just">
              <a:lnSpc>
                <a:spcPct val="115000"/>
              </a:lnSpc>
              <a:spcAft>
                <a:spcPts val="800"/>
              </a:spcAft>
              <a:buNone/>
            </a:pPr>
            <a:r>
              <a:rPr lang="en-IN" sz="2000" kern="100" dirty="0">
                <a:effectLst/>
                <a:latin typeface="+mj-lt"/>
                <a:ea typeface="Calibri" panose="020F0502020204030204" pitchFamily="34" charset="0"/>
                <a:cs typeface="Cordia New" panose="020B0304020202020204" pitchFamily="34" charset="-34"/>
              </a:rPr>
              <a:t>This module involves the implementation of a variety of deep learning classifiers, such as Random Forest (RF), Support Vector Machine (SVM), YOLOv5, and Neural Networks (NN), tailored to classify MRI images effectively. For segmentation tasks, it leverages the U-Net architecture with powerful backbones like VGG16, ResNet34, and InceptionV3. The integration of these models provides a cohesive and efficient framework for MRI image analysis, enhancing the diagnostic process through superior model performance.</a:t>
            </a:r>
            <a:endParaRPr lang="en-IN" sz="2000" dirty="0">
              <a:latin typeface="+mj-lt"/>
            </a:endParaRPr>
          </a:p>
          <a:p>
            <a:endParaRPr lang="en-IN" dirty="0"/>
          </a:p>
        </p:txBody>
      </p:sp>
      <p:sp>
        <p:nvSpPr>
          <p:cNvPr id="4" name="Date Placeholder 3">
            <a:extLst>
              <a:ext uri="{FF2B5EF4-FFF2-40B4-BE49-F238E27FC236}">
                <a16:creationId xmlns:a16="http://schemas.microsoft.com/office/drawing/2014/main" id="{77E349A5-FE48-039E-202A-1471B5AF386F}"/>
              </a:ext>
            </a:extLst>
          </p:cNvPr>
          <p:cNvSpPr>
            <a:spLocks noGrp="1"/>
          </p:cNvSpPr>
          <p:nvPr>
            <p:ph type="dt" sz="half" idx="10"/>
          </p:nvPr>
        </p:nvSpPr>
        <p:spPr/>
        <p:txBody>
          <a:bodyPr/>
          <a:lstStyle/>
          <a:p>
            <a:pPr>
              <a:defRPr/>
            </a:pPr>
            <a:fld id="{EB7275DB-6D13-480B-AC77-F5019BDC5287}" type="datetime3">
              <a:rPr lang="en-US" smtClean="0"/>
              <a:t>30 January 2025</a:t>
            </a:fld>
            <a:endParaRPr lang="en-US"/>
          </a:p>
        </p:txBody>
      </p:sp>
      <p:sp>
        <p:nvSpPr>
          <p:cNvPr id="5" name="Footer Placeholder 4">
            <a:extLst>
              <a:ext uri="{FF2B5EF4-FFF2-40B4-BE49-F238E27FC236}">
                <a16:creationId xmlns:a16="http://schemas.microsoft.com/office/drawing/2014/main" id="{DDA58EB5-9C49-A568-C380-E743B1025BF2}"/>
              </a:ext>
            </a:extLst>
          </p:cNvPr>
          <p:cNvSpPr>
            <a:spLocks noGrp="1"/>
          </p:cNvSpPr>
          <p:nvPr>
            <p:ph type="ftr" sz="quarter" idx="11"/>
          </p:nvPr>
        </p:nvSpPr>
        <p:spPr/>
        <p:txBody>
          <a:bodyPr/>
          <a:lstStyle/>
          <a:p>
            <a:pPr>
              <a:defRPr/>
            </a:pPr>
            <a:r>
              <a:rPr lang="en-US"/>
              <a:t>School of Computing - CSE</a:t>
            </a:r>
          </a:p>
        </p:txBody>
      </p:sp>
      <p:sp>
        <p:nvSpPr>
          <p:cNvPr id="6" name="Slide Number Placeholder 5">
            <a:extLst>
              <a:ext uri="{FF2B5EF4-FFF2-40B4-BE49-F238E27FC236}">
                <a16:creationId xmlns:a16="http://schemas.microsoft.com/office/drawing/2014/main" id="{A8800360-C081-9913-3D29-E68B557802D0}"/>
              </a:ext>
            </a:extLst>
          </p:cNvPr>
          <p:cNvSpPr>
            <a:spLocks noGrp="1"/>
          </p:cNvSpPr>
          <p:nvPr>
            <p:ph type="sldNum" sz="quarter" idx="12"/>
          </p:nvPr>
        </p:nvSpPr>
        <p:spPr/>
        <p:txBody>
          <a:bodyPr/>
          <a:lstStyle/>
          <a:p>
            <a:pPr>
              <a:defRPr/>
            </a:pPr>
            <a:fld id="{7B28076C-CE04-4A00-BFAA-A90EA8355859}" type="slidenum">
              <a:rPr lang="en-US" smtClean="0"/>
              <a:t>16</a:t>
            </a:fld>
            <a:endParaRPr lang="en-US"/>
          </a:p>
        </p:txBody>
      </p:sp>
    </p:spTree>
    <p:extLst>
      <p:ext uri="{BB962C8B-B14F-4D97-AF65-F5344CB8AC3E}">
        <p14:creationId xmlns:p14="http://schemas.microsoft.com/office/powerpoint/2010/main" val="22834328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7B5FBB-7FFC-B4FA-4E28-85D48F8338A8}"/>
              </a:ext>
            </a:extLst>
          </p:cNvPr>
          <p:cNvSpPr>
            <a:spLocks noGrp="1"/>
          </p:cNvSpPr>
          <p:nvPr>
            <p:ph type="title"/>
          </p:nvPr>
        </p:nvSpPr>
        <p:spPr/>
        <p:txBody>
          <a:bodyPr/>
          <a:lstStyle/>
          <a:p>
            <a:r>
              <a:rPr lang="en-IN" sz="3600" dirty="0"/>
              <a:t>PROPOSED SYSTEM(3/3)</a:t>
            </a:r>
          </a:p>
        </p:txBody>
      </p:sp>
      <p:sp>
        <p:nvSpPr>
          <p:cNvPr id="3" name="Content Placeholder 2">
            <a:extLst>
              <a:ext uri="{FF2B5EF4-FFF2-40B4-BE49-F238E27FC236}">
                <a16:creationId xmlns:a16="http://schemas.microsoft.com/office/drawing/2014/main" id="{2C4EE0C0-7114-FB9E-3776-9C5F17472C83}"/>
              </a:ext>
            </a:extLst>
          </p:cNvPr>
          <p:cNvSpPr>
            <a:spLocks noGrp="1"/>
          </p:cNvSpPr>
          <p:nvPr>
            <p:ph idx="1"/>
          </p:nvPr>
        </p:nvSpPr>
        <p:spPr>
          <a:xfrm>
            <a:off x="457200" y="1490472"/>
            <a:ext cx="8229600" cy="4635691"/>
          </a:xfrm>
        </p:spPr>
        <p:txBody>
          <a:bodyPr>
            <a:normAutofit/>
          </a:bodyPr>
          <a:lstStyle/>
          <a:p>
            <a:pPr marL="0" indent="0" algn="just">
              <a:lnSpc>
                <a:spcPct val="115000"/>
              </a:lnSpc>
              <a:spcAft>
                <a:spcPts val="800"/>
              </a:spcAft>
              <a:buNone/>
            </a:pPr>
            <a:r>
              <a:rPr lang="en-IN" sz="2000" b="1" kern="100" dirty="0">
                <a:latin typeface="Tohoma"/>
                <a:ea typeface="Calibri" panose="020F0502020204030204" pitchFamily="34" charset="0"/>
                <a:cs typeface="Cordia New" panose="020B0304020202020204" pitchFamily="34" charset="-34"/>
              </a:rPr>
              <a:t>Module 3</a:t>
            </a:r>
          </a:p>
          <a:p>
            <a:pPr marL="0" indent="0" algn="just">
              <a:lnSpc>
                <a:spcPct val="115000"/>
              </a:lnSpc>
              <a:spcAft>
                <a:spcPts val="800"/>
              </a:spcAft>
              <a:buNone/>
            </a:pPr>
            <a:r>
              <a:rPr lang="en-IN" sz="2000" b="1" kern="100" dirty="0">
                <a:latin typeface="Tohoma"/>
                <a:ea typeface="Calibri" panose="020F0502020204030204" pitchFamily="34" charset="0"/>
                <a:cs typeface="Cordia New" panose="020B0304020202020204" pitchFamily="34" charset="-34"/>
              </a:rPr>
              <a:t>Automating and Improving Diagnostic Workflows</a:t>
            </a:r>
          </a:p>
          <a:p>
            <a:pPr marL="0" indent="0" algn="just">
              <a:lnSpc>
                <a:spcPct val="135000"/>
              </a:lnSpc>
              <a:spcAft>
                <a:spcPts val="800"/>
              </a:spcAft>
              <a:buNone/>
            </a:pPr>
            <a:r>
              <a:rPr lang="en-IN" sz="2200" kern="100" dirty="0">
                <a:latin typeface="+mj-lt"/>
                <a:ea typeface="Calibri" panose="020F0502020204030204" pitchFamily="34" charset="0"/>
                <a:cs typeface="Cordia New" panose="020B0304020202020204" pitchFamily="34" charset="-34"/>
              </a:rPr>
              <a:t>This module is dedicated to automating the segmentation and classification steps within the MRI analysis process. By reducing reliance on manual processes, this automation speeds up the diagnostic workflow, thereby improving patient outcomes. The module focuses on enhancing the precision of tumour boundary delineation and refining diagnosis accuracy, making the overall diagnostic procedure more reliable and efficient</a:t>
            </a:r>
            <a:r>
              <a:rPr lang="en-IN" sz="2200" kern="100" dirty="0">
                <a:effectLst/>
                <a:latin typeface="+mj-lt"/>
                <a:ea typeface="Calibri" panose="020F0502020204030204" pitchFamily="34" charset="0"/>
                <a:cs typeface="Cordia New" panose="020B0304020202020204" pitchFamily="34" charset="-34"/>
              </a:rPr>
              <a:t>.</a:t>
            </a:r>
          </a:p>
          <a:p>
            <a:endParaRPr lang="en-IN" dirty="0"/>
          </a:p>
        </p:txBody>
      </p:sp>
      <p:sp>
        <p:nvSpPr>
          <p:cNvPr id="4" name="Date Placeholder 3">
            <a:extLst>
              <a:ext uri="{FF2B5EF4-FFF2-40B4-BE49-F238E27FC236}">
                <a16:creationId xmlns:a16="http://schemas.microsoft.com/office/drawing/2014/main" id="{60912CF9-4943-5EA0-DDED-B03428B25F6D}"/>
              </a:ext>
            </a:extLst>
          </p:cNvPr>
          <p:cNvSpPr>
            <a:spLocks noGrp="1"/>
          </p:cNvSpPr>
          <p:nvPr>
            <p:ph type="dt" sz="half" idx="10"/>
          </p:nvPr>
        </p:nvSpPr>
        <p:spPr/>
        <p:txBody>
          <a:bodyPr/>
          <a:lstStyle/>
          <a:p>
            <a:pPr>
              <a:defRPr/>
            </a:pPr>
            <a:fld id="{EB7275DB-6D13-480B-AC77-F5019BDC5287}" type="datetime3">
              <a:rPr lang="en-US" smtClean="0"/>
              <a:t>30 January 2025</a:t>
            </a:fld>
            <a:endParaRPr lang="en-US"/>
          </a:p>
        </p:txBody>
      </p:sp>
      <p:sp>
        <p:nvSpPr>
          <p:cNvPr id="5" name="Footer Placeholder 4">
            <a:extLst>
              <a:ext uri="{FF2B5EF4-FFF2-40B4-BE49-F238E27FC236}">
                <a16:creationId xmlns:a16="http://schemas.microsoft.com/office/drawing/2014/main" id="{D20BB559-D3FE-64CD-5F46-E630717B6FF6}"/>
              </a:ext>
            </a:extLst>
          </p:cNvPr>
          <p:cNvSpPr>
            <a:spLocks noGrp="1"/>
          </p:cNvSpPr>
          <p:nvPr>
            <p:ph type="ftr" sz="quarter" idx="11"/>
          </p:nvPr>
        </p:nvSpPr>
        <p:spPr/>
        <p:txBody>
          <a:bodyPr/>
          <a:lstStyle/>
          <a:p>
            <a:pPr>
              <a:defRPr/>
            </a:pPr>
            <a:r>
              <a:rPr lang="en-US"/>
              <a:t>School of Computing - CSE</a:t>
            </a:r>
          </a:p>
        </p:txBody>
      </p:sp>
      <p:sp>
        <p:nvSpPr>
          <p:cNvPr id="6" name="Slide Number Placeholder 5">
            <a:extLst>
              <a:ext uri="{FF2B5EF4-FFF2-40B4-BE49-F238E27FC236}">
                <a16:creationId xmlns:a16="http://schemas.microsoft.com/office/drawing/2014/main" id="{23FB9BD6-FB80-DE1F-1FA1-398245A86845}"/>
              </a:ext>
            </a:extLst>
          </p:cNvPr>
          <p:cNvSpPr>
            <a:spLocks noGrp="1"/>
          </p:cNvSpPr>
          <p:nvPr>
            <p:ph type="sldNum" sz="quarter" idx="12"/>
          </p:nvPr>
        </p:nvSpPr>
        <p:spPr/>
        <p:txBody>
          <a:bodyPr/>
          <a:lstStyle/>
          <a:p>
            <a:pPr>
              <a:defRPr/>
            </a:pPr>
            <a:fld id="{7B28076C-CE04-4A00-BFAA-A90EA8355859}" type="slidenum">
              <a:rPr lang="en-US" smtClean="0"/>
              <a:t>17</a:t>
            </a:fld>
            <a:endParaRPr lang="en-US"/>
          </a:p>
        </p:txBody>
      </p:sp>
    </p:spTree>
    <p:extLst>
      <p:ext uri="{BB962C8B-B14F-4D97-AF65-F5344CB8AC3E}">
        <p14:creationId xmlns:p14="http://schemas.microsoft.com/office/powerpoint/2010/main" val="6863636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Content Placeholder 10">
            <a:extLst>
              <a:ext uri="{FF2B5EF4-FFF2-40B4-BE49-F238E27FC236}">
                <a16:creationId xmlns:a16="http://schemas.microsoft.com/office/drawing/2014/main" id="{2ECC831F-B305-10E8-E0F8-92D29ABD728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81380" y="2403889"/>
            <a:ext cx="1828800" cy="1828800"/>
          </a:xfrm>
        </p:spPr>
      </p:pic>
      <p:pic>
        <p:nvPicPr>
          <p:cNvPr id="13" name="Picture 12">
            <a:extLst>
              <a:ext uri="{FF2B5EF4-FFF2-40B4-BE49-F238E27FC236}">
                <a16:creationId xmlns:a16="http://schemas.microsoft.com/office/drawing/2014/main" id="{456B2D31-3090-D2D5-F9F3-BC005B75E91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56509" y="2403889"/>
            <a:ext cx="1828800" cy="1828800"/>
          </a:xfrm>
          <a:prstGeom prst="rect">
            <a:avLst/>
          </a:prstGeom>
        </p:spPr>
      </p:pic>
      <p:pic>
        <p:nvPicPr>
          <p:cNvPr id="15" name="Picture 14">
            <a:extLst>
              <a:ext uri="{FF2B5EF4-FFF2-40B4-BE49-F238E27FC236}">
                <a16:creationId xmlns:a16="http://schemas.microsoft.com/office/drawing/2014/main" id="{9A20182E-1C31-0DD9-948A-E7871255B85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58692" y="2403889"/>
            <a:ext cx="1828800" cy="1828800"/>
          </a:xfrm>
          <a:prstGeom prst="rect">
            <a:avLst/>
          </a:prstGeom>
        </p:spPr>
      </p:pic>
      <p:pic>
        <p:nvPicPr>
          <p:cNvPr id="17" name="Picture 16">
            <a:extLst>
              <a:ext uri="{FF2B5EF4-FFF2-40B4-BE49-F238E27FC236}">
                <a16:creationId xmlns:a16="http://schemas.microsoft.com/office/drawing/2014/main" id="{515D55F0-A25F-C80B-3E1D-23EB3CC2D4F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692902" y="2393950"/>
            <a:ext cx="1828800" cy="1828800"/>
          </a:xfrm>
          <a:prstGeom prst="rect">
            <a:avLst/>
          </a:prstGeom>
        </p:spPr>
      </p:pic>
      <p:sp>
        <p:nvSpPr>
          <p:cNvPr id="5" name="Title 4">
            <a:extLst>
              <a:ext uri="{FF2B5EF4-FFF2-40B4-BE49-F238E27FC236}">
                <a16:creationId xmlns:a16="http://schemas.microsoft.com/office/drawing/2014/main" id="{A4F44E86-917F-14E8-61E1-209280D1B534}"/>
              </a:ext>
            </a:extLst>
          </p:cNvPr>
          <p:cNvSpPr txBox="1">
            <a:spLocks noGrp="1"/>
          </p:cNvSpPr>
          <p:nvPr>
            <p:ph type="title"/>
          </p:nvPr>
        </p:nvSpPr>
        <p:spPr>
          <a:xfrm rot="10800000" flipV="1">
            <a:off x="827709" y="377688"/>
            <a:ext cx="6358282" cy="2842866"/>
          </a:xfrm>
          <a:prstGeom prst="rect">
            <a:avLst/>
          </a:prstGeom>
          <a:noFill/>
        </p:spPr>
        <p:txBody>
          <a:bodyPr wrap="square">
            <a:spAutoFit/>
          </a:bodyPr>
          <a:lstStyle/>
          <a:p>
            <a:pPr algn="r"/>
            <a:r>
              <a:rPr lang="en-IN" dirty="0"/>
              <a:t>Results and Discussion</a:t>
            </a:r>
            <a:br>
              <a:rPr lang="en-IN" b="1" dirty="0"/>
            </a:br>
            <a:br>
              <a:rPr lang="en-IN" b="1" dirty="0"/>
            </a:br>
            <a:br>
              <a:rPr lang="en-IN" b="1" dirty="0"/>
            </a:br>
            <a:endParaRPr lang="en-IN" dirty="0"/>
          </a:p>
        </p:txBody>
      </p:sp>
      <p:sp>
        <p:nvSpPr>
          <p:cNvPr id="16" name="TextBox 15">
            <a:extLst>
              <a:ext uri="{FF2B5EF4-FFF2-40B4-BE49-F238E27FC236}">
                <a16:creationId xmlns:a16="http://schemas.microsoft.com/office/drawing/2014/main" id="{90A8D78F-C77C-7692-000B-29F5026086AE}"/>
              </a:ext>
            </a:extLst>
          </p:cNvPr>
          <p:cNvSpPr txBox="1"/>
          <p:nvPr/>
        </p:nvSpPr>
        <p:spPr>
          <a:xfrm>
            <a:off x="4114800" y="3516868"/>
            <a:ext cx="914400" cy="369332"/>
          </a:xfrm>
          <a:prstGeom prst="rect">
            <a:avLst/>
          </a:prstGeom>
          <a:noFill/>
        </p:spPr>
        <p:txBody>
          <a:bodyPr wrap="square" rtlCol="0" anchor="b">
            <a:spAutoFit/>
          </a:bodyPr>
          <a:lstStyle/>
          <a:p>
            <a:endParaRPr lang="en-IN" dirty="0"/>
          </a:p>
        </p:txBody>
      </p:sp>
      <p:sp>
        <p:nvSpPr>
          <p:cNvPr id="18" name="TextBox 17">
            <a:extLst>
              <a:ext uri="{FF2B5EF4-FFF2-40B4-BE49-F238E27FC236}">
                <a16:creationId xmlns:a16="http://schemas.microsoft.com/office/drawing/2014/main" id="{7AFF4870-EE89-4432-9C6B-3C8108892A10}"/>
              </a:ext>
            </a:extLst>
          </p:cNvPr>
          <p:cNvSpPr txBox="1"/>
          <p:nvPr/>
        </p:nvSpPr>
        <p:spPr>
          <a:xfrm>
            <a:off x="622299" y="3975652"/>
            <a:ext cx="1860827" cy="1480931"/>
          </a:xfrm>
          <a:prstGeom prst="rect">
            <a:avLst/>
          </a:prstGeom>
          <a:noFill/>
        </p:spPr>
        <p:txBody>
          <a:bodyPr wrap="square" rtlCol="0">
            <a:spAutoFit/>
          </a:bodyPr>
          <a:lstStyle/>
          <a:p>
            <a:endParaRPr lang="en-IN" dirty="0"/>
          </a:p>
        </p:txBody>
      </p:sp>
      <p:sp>
        <p:nvSpPr>
          <p:cNvPr id="20" name="TextBox 19">
            <a:extLst>
              <a:ext uri="{FF2B5EF4-FFF2-40B4-BE49-F238E27FC236}">
                <a16:creationId xmlns:a16="http://schemas.microsoft.com/office/drawing/2014/main" id="{A4F676A7-76A6-1393-CF97-1ECE75912814}"/>
              </a:ext>
            </a:extLst>
          </p:cNvPr>
          <p:cNvSpPr txBox="1"/>
          <p:nvPr/>
        </p:nvSpPr>
        <p:spPr>
          <a:xfrm>
            <a:off x="827710" y="3975651"/>
            <a:ext cx="1828799" cy="923330"/>
          </a:xfrm>
          <a:prstGeom prst="rect">
            <a:avLst/>
          </a:prstGeom>
          <a:noFill/>
        </p:spPr>
        <p:txBody>
          <a:bodyPr wrap="square" rtlCol="0">
            <a:spAutoFit/>
          </a:bodyPr>
          <a:lstStyle/>
          <a:p>
            <a:r>
              <a:rPr lang="en-IN" dirty="0"/>
              <a:t>                                          </a:t>
            </a:r>
          </a:p>
          <a:p>
            <a:r>
              <a:rPr lang="en-IN" dirty="0"/>
              <a:t>                      Input Image</a:t>
            </a:r>
          </a:p>
        </p:txBody>
      </p:sp>
      <p:sp>
        <p:nvSpPr>
          <p:cNvPr id="22" name="TextBox 21">
            <a:extLst>
              <a:ext uri="{FF2B5EF4-FFF2-40B4-BE49-F238E27FC236}">
                <a16:creationId xmlns:a16="http://schemas.microsoft.com/office/drawing/2014/main" id="{976D975B-A6E3-8AA0-86F8-C46E03625ABF}"/>
              </a:ext>
            </a:extLst>
          </p:cNvPr>
          <p:cNvSpPr txBox="1"/>
          <p:nvPr/>
        </p:nvSpPr>
        <p:spPr>
          <a:xfrm>
            <a:off x="2802837" y="3975651"/>
            <a:ext cx="1682471" cy="923330"/>
          </a:xfrm>
          <a:prstGeom prst="rect">
            <a:avLst/>
          </a:prstGeom>
          <a:noFill/>
        </p:spPr>
        <p:txBody>
          <a:bodyPr wrap="square" rtlCol="0">
            <a:spAutoFit/>
          </a:bodyPr>
          <a:lstStyle/>
          <a:p>
            <a:r>
              <a:rPr lang="en-IN" dirty="0"/>
              <a:t>                                                               </a:t>
            </a:r>
          </a:p>
          <a:p>
            <a:endParaRPr lang="en-IN" dirty="0"/>
          </a:p>
          <a:p>
            <a:r>
              <a:rPr lang="en-IN" dirty="0"/>
              <a:t>Output Image</a:t>
            </a:r>
          </a:p>
        </p:txBody>
      </p:sp>
      <p:sp>
        <p:nvSpPr>
          <p:cNvPr id="24" name="TextBox 23">
            <a:extLst>
              <a:ext uri="{FF2B5EF4-FFF2-40B4-BE49-F238E27FC236}">
                <a16:creationId xmlns:a16="http://schemas.microsoft.com/office/drawing/2014/main" id="{5DB21DB3-2A70-29D0-AD6C-B3758D2A09AE}"/>
              </a:ext>
            </a:extLst>
          </p:cNvPr>
          <p:cNvSpPr txBox="1"/>
          <p:nvPr/>
        </p:nvSpPr>
        <p:spPr>
          <a:xfrm>
            <a:off x="4807779" y="4298674"/>
            <a:ext cx="1530626" cy="646331"/>
          </a:xfrm>
          <a:prstGeom prst="rect">
            <a:avLst/>
          </a:prstGeom>
          <a:noFill/>
        </p:spPr>
        <p:txBody>
          <a:bodyPr wrap="square" rtlCol="0">
            <a:spAutoFit/>
          </a:bodyPr>
          <a:lstStyle/>
          <a:p>
            <a:endParaRPr lang="en-IN" dirty="0"/>
          </a:p>
          <a:p>
            <a:r>
              <a:rPr lang="en-IN" dirty="0"/>
              <a:t>Input Image</a:t>
            </a:r>
          </a:p>
        </p:txBody>
      </p:sp>
      <p:sp>
        <p:nvSpPr>
          <p:cNvPr id="28" name="TextBox 27">
            <a:extLst>
              <a:ext uri="{FF2B5EF4-FFF2-40B4-BE49-F238E27FC236}">
                <a16:creationId xmlns:a16="http://schemas.microsoft.com/office/drawing/2014/main" id="{925CBEBB-1380-2A4E-C1B7-7AD6ABF2FFFE}"/>
              </a:ext>
            </a:extLst>
          </p:cNvPr>
          <p:cNvSpPr txBox="1"/>
          <p:nvPr/>
        </p:nvSpPr>
        <p:spPr>
          <a:xfrm>
            <a:off x="6809961" y="4021675"/>
            <a:ext cx="2119243" cy="923330"/>
          </a:xfrm>
          <a:prstGeom prst="rect">
            <a:avLst/>
          </a:prstGeom>
          <a:noFill/>
        </p:spPr>
        <p:txBody>
          <a:bodyPr wrap="square" rtlCol="0">
            <a:spAutoFit/>
          </a:bodyPr>
          <a:lstStyle/>
          <a:p>
            <a:endParaRPr lang="en-IN" dirty="0"/>
          </a:p>
          <a:p>
            <a:endParaRPr lang="en-IN" dirty="0"/>
          </a:p>
          <a:p>
            <a:r>
              <a:rPr lang="en-IN" dirty="0"/>
              <a:t>Output Image</a:t>
            </a:r>
          </a:p>
        </p:txBody>
      </p:sp>
      <p:sp>
        <p:nvSpPr>
          <p:cNvPr id="31" name="TextBox 30">
            <a:extLst>
              <a:ext uri="{FF2B5EF4-FFF2-40B4-BE49-F238E27FC236}">
                <a16:creationId xmlns:a16="http://schemas.microsoft.com/office/drawing/2014/main" id="{C2D078F3-9A9D-8A4A-7E37-CDBE2D44EDAA}"/>
              </a:ext>
            </a:extLst>
          </p:cNvPr>
          <p:cNvSpPr txBox="1"/>
          <p:nvPr/>
        </p:nvSpPr>
        <p:spPr>
          <a:xfrm>
            <a:off x="2656508" y="1490870"/>
            <a:ext cx="5806111" cy="646331"/>
          </a:xfrm>
          <a:prstGeom prst="rect">
            <a:avLst/>
          </a:prstGeom>
          <a:noFill/>
        </p:spPr>
        <p:txBody>
          <a:bodyPr wrap="square" rtlCol="0">
            <a:spAutoFit/>
          </a:bodyPr>
          <a:lstStyle/>
          <a:p>
            <a:r>
              <a:rPr lang="en-IN" sz="3600" dirty="0"/>
              <a:t>Cancerous(Tumour)</a:t>
            </a:r>
          </a:p>
        </p:txBody>
      </p:sp>
    </p:spTree>
    <p:extLst>
      <p:ext uri="{BB962C8B-B14F-4D97-AF65-F5344CB8AC3E}">
        <p14:creationId xmlns:p14="http://schemas.microsoft.com/office/powerpoint/2010/main" val="12234077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50B856-4E09-584C-84CA-D511A2CF0983}"/>
              </a:ext>
            </a:extLst>
          </p:cNvPr>
          <p:cNvSpPr>
            <a:spLocks noGrp="1"/>
          </p:cNvSpPr>
          <p:nvPr>
            <p:ph type="title"/>
          </p:nvPr>
        </p:nvSpPr>
        <p:spPr>
          <a:xfrm>
            <a:off x="387626" y="1470704"/>
            <a:ext cx="8140147" cy="1301568"/>
          </a:xfrm>
        </p:spPr>
        <p:txBody>
          <a:bodyPr>
            <a:normAutofit/>
          </a:bodyPr>
          <a:lstStyle/>
          <a:p>
            <a:r>
              <a:rPr lang="en-IN" sz="3600" dirty="0"/>
              <a:t>Non Cancerous(Non-Tumour)</a:t>
            </a:r>
          </a:p>
        </p:txBody>
      </p:sp>
      <p:pic>
        <p:nvPicPr>
          <p:cNvPr id="5" name="Content Placeholder 4">
            <a:extLst>
              <a:ext uri="{FF2B5EF4-FFF2-40B4-BE49-F238E27FC236}">
                <a16:creationId xmlns:a16="http://schemas.microsoft.com/office/drawing/2014/main" id="{F0BCBE5A-59E8-DA04-3501-E1980BE7C7D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14449" y="2842220"/>
            <a:ext cx="1828800" cy="1828800"/>
          </a:xfrm>
        </p:spPr>
      </p:pic>
      <p:pic>
        <p:nvPicPr>
          <p:cNvPr id="9" name="Picture 8">
            <a:extLst>
              <a:ext uri="{FF2B5EF4-FFF2-40B4-BE49-F238E27FC236}">
                <a16:creationId xmlns:a16="http://schemas.microsoft.com/office/drawing/2014/main" id="{8C2977A0-9552-30B3-257C-3F04711BAA2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78357" y="2842219"/>
            <a:ext cx="1828800" cy="1828800"/>
          </a:xfrm>
          <a:prstGeom prst="rect">
            <a:avLst/>
          </a:prstGeom>
        </p:spPr>
      </p:pic>
      <p:sp>
        <p:nvSpPr>
          <p:cNvPr id="4" name="TextBox 3">
            <a:extLst>
              <a:ext uri="{FF2B5EF4-FFF2-40B4-BE49-F238E27FC236}">
                <a16:creationId xmlns:a16="http://schemas.microsoft.com/office/drawing/2014/main" id="{F3E3D2DF-5E65-D192-6056-FB174F53921F}"/>
              </a:ext>
            </a:extLst>
          </p:cNvPr>
          <p:cNvSpPr txBox="1"/>
          <p:nvPr/>
        </p:nvSpPr>
        <p:spPr>
          <a:xfrm>
            <a:off x="1314449" y="4740965"/>
            <a:ext cx="2276060" cy="646331"/>
          </a:xfrm>
          <a:prstGeom prst="rect">
            <a:avLst/>
          </a:prstGeom>
          <a:noFill/>
        </p:spPr>
        <p:txBody>
          <a:bodyPr wrap="square" rtlCol="0">
            <a:spAutoFit/>
          </a:bodyPr>
          <a:lstStyle/>
          <a:p>
            <a:endParaRPr lang="en-IN" dirty="0"/>
          </a:p>
          <a:p>
            <a:r>
              <a:rPr lang="en-IN" dirty="0"/>
              <a:t>Input Image1</a:t>
            </a:r>
          </a:p>
        </p:txBody>
      </p:sp>
      <p:sp>
        <p:nvSpPr>
          <p:cNvPr id="16" name="TextBox 15">
            <a:extLst>
              <a:ext uri="{FF2B5EF4-FFF2-40B4-BE49-F238E27FC236}">
                <a16:creationId xmlns:a16="http://schemas.microsoft.com/office/drawing/2014/main" id="{BF14094E-EB97-C764-E016-0EB13E7858EC}"/>
              </a:ext>
            </a:extLst>
          </p:cNvPr>
          <p:cNvSpPr txBox="1"/>
          <p:nvPr/>
        </p:nvSpPr>
        <p:spPr>
          <a:xfrm>
            <a:off x="4078357" y="4740965"/>
            <a:ext cx="2673626" cy="646331"/>
          </a:xfrm>
          <a:prstGeom prst="rect">
            <a:avLst/>
          </a:prstGeom>
          <a:noFill/>
        </p:spPr>
        <p:txBody>
          <a:bodyPr wrap="square" rtlCol="0">
            <a:spAutoFit/>
          </a:bodyPr>
          <a:lstStyle/>
          <a:p>
            <a:endParaRPr lang="en-IN" dirty="0"/>
          </a:p>
          <a:p>
            <a:r>
              <a:rPr lang="en-IN" dirty="0"/>
              <a:t>Input Image2</a:t>
            </a:r>
          </a:p>
        </p:txBody>
      </p:sp>
      <p:pic>
        <p:nvPicPr>
          <p:cNvPr id="17" name="Picture 16">
            <a:extLst>
              <a:ext uri="{FF2B5EF4-FFF2-40B4-BE49-F238E27FC236}">
                <a16:creationId xmlns:a16="http://schemas.microsoft.com/office/drawing/2014/main" id="{7ADC5E28-11A7-409B-76C4-2E54B22FCCF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99580" y="2842218"/>
            <a:ext cx="1828801" cy="1828801"/>
          </a:xfrm>
          <a:prstGeom prst="rect">
            <a:avLst/>
          </a:prstGeom>
        </p:spPr>
      </p:pic>
      <p:sp>
        <p:nvSpPr>
          <p:cNvPr id="19" name="TextBox 18">
            <a:extLst>
              <a:ext uri="{FF2B5EF4-FFF2-40B4-BE49-F238E27FC236}">
                <a16:creationId xmlns:a16="http://schemas.microsoft.com/office/drawing/2014/main" id="{5F63598A-DA36-8B5B-07DA-DE082264F6F6}"/>
              </a:ext>
            </a:extLst>
          </p:cNvPr>
          <p:cNvSpPr txBox="1"/>
          <p:nvPr/>
        </p:nvSpPr>
        <p:spPr>
          <a:xfrm>
            <a:off x="6599578" y="4740965"/>
            <a:ext cx="1828801" cy="646331"/>
          </a:xfrm>
          <a:prstGeom prst="rect">
            <a:avLst/>
          </a:prstGeom>
          <a:noFill/>
        </p:spPr>
        <p:txBody>
          <a:bodyPr wrap="square" rtlCol="0">
            <a:spAutoFit/>
          </a:bodyPr>
          <a:lstStyle/>
          <a:p>
            <a:endParaRPr lang="en-IN" dirty="0"/>
          </a:p>
          <a:p>
            <a:r>
              <a:rPr lang="en-IN" dirty="0"/>
              <a:t>Output Image</a:t>
            </a:r>
          </a:p>
        </p:txBody>
      </p:sp>
    </p:spTree>
    <p:extLst>
      <p:ext uri="{BB962C8B-B14F-4D97-AF65-F5344CB8AC3E}">
        <p14:creationId xmlns:p14="http://schemas.microsoft.com/office/powerpoint/2010/main" val="3010749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37F92F-2E73-29F8-8201-A979BF6E692B}"/>
              </a:ext>
            </a:extLst>
          </p:cNvPr>
          <p:cNvSpPr>
            <a:spLocks noGrp="1"/>
          </p:cNvSpPr>
          <p:nvPr>
            <p:ph type="title"/>
          </p:nvPr>
        </p:nvSpPr>
        <p:spPr/>
        <p:txBody>
          <a:bodyPr/>
          <a:lstStyle/>
          <a:p>
            <a:endParaRPr lang="en-IN"/>
          </a:p>
        </p:txBody>
      </p:sp>
      <p:graphicFrame>
        <p:nvGraphicFramePr>
          <p:cNvPr id="5" name="Content Placeholder 4">
            <a:extLst>
              <a:ext uri="{FF2B5EF4-FFF2-40B4-BE49-F238E27FC236}">
                <a16:creationId xmlns:a16="http://schemas.microsoft.com/office/drawing/2014/main" id="{E007547C-6A80-0222-76CC-72378D61D2E2}"/>
              </a:ext>
            </a:extLst>
          </p:cNvPr>
          <p:cNvGraphicFramePr>
            <a:graphicFrameLocks noGrp="1"/>
          </p:cNvGraphicFramePr>
          <p:nvPr>
            <p:ph idx="1"/>
          </p:nvPr>
        </p:nvGraphicFramePr>
        <p:xfrm>
          <a:off x="628650" y="2226469"/>
          <a:ext cx="7886700" cy="2118360"/>
        </p:xfrm>
        <a:graphic>
          <a:graphicData uri="http://schemas.openxmlformats.org/drawingml/2006/table">
            <a:tbl>
              <a:tblPr firstRow="1" bandRow="1">
                <a:tableStyleId>{5C22544A-7EE6-4342-B048-85BDC9FD1C3A}</a:tableStyleId>
              </a:tblPr>
              <a:tblGrid>
                <a:gridCol w="1577340">
                  <a:extLst>
                    <a:ext uri="{9D8B030D-6E8A-4147-A177-3AD203B41FA5}">
                      <a16:colId xmlns:a16="http://schemas.microsoft.com/office/drawing/2014/main" val="3466616985"/>
                    </a:ext>
                  </a:extLst>
                </a:gridCol>
                <a:gridCol w="1577340">
                  <a:extLst>
                    <a:ext uri="{9D8B030D-6E8A-4147-A177-3AD203B41FA5}">
                      <a16:colId xmlns:a16="http://schemas.microsoft.com/office/drawing/2014/main" val="990951784"/>
                    </a:ext>
                  </a:extLst>
                </a:gridCol>
                <a:gridCol w="1577340">
                  <a:extLst>
                    <a:ext uri="{9D8B030D-6E8A-4147-A177-3AD203B41FA5}">
                      <a16:colId xmlns:a16="http://schemas.microsoft.com/office/drawing/2014/main" val="2650265765"/>
                    </a:ext>
                  </a:extLst>
                </a:gridCol>
                <a:gridCol w="1577340">
                  <a:extLst>
                    <a:ext uri="{9D8B030D-6E8A-4147-A177-3AD203B41FA5}">
                      <a16:colId xmlns:a16="http://schemas.microsoft.com/office/drawing/2014/main" val="583824623"/>
                    </a:ext>
                  </a:extLst>
                </a:gridCol>
                <a:gridCol w="1577340">
                  <a:extLst>
                    <a:ext uri="{9D8B030D-6E8A-4147-A177-3AD203B41FA5}">
                      <a16:colId xmlns:a16="http://schemas.microsoft.com/office/drawing/2014/main" val="639551217"/>
                    </a:ext>
                  </a:extLst>
                </a:gridCol>
              </a:tblGrid>
              <a:tr h="278130">
                <a:tc>
                  <a:txBody>
                    <a:bodyPr/>
                    <a:lstStyle/>
                    <a:p>
                      <a:r>
                        <a:rPr lang="en-IN" sz="1400" dirty="0"/>
                        <a:t>Algorithms</a:t>
                      </a:r>
                    </a:p>
                  </a:txBody>
                  <a:tcPr marL="68580" marR="68580" marT="34290" marB="34290"/>
                </a:tc>
                <a:tc>
                  <a:txBody>
                    <a:bodyPr/>
                    <a:lstStyle/>
                    <a:p>
                      <a:r>
                        <a:rPr lang="en-IN" sz="1400" dirty="0"/>
                        <a:t>Accuracy</a:t>
                      </a:r>
                    </a:p>
                  </a:txBody>
                  <a:tcPr marL="68580" marR="68580" marT="34290" marB="34290"/>
                </a:tc>
                <a:tc>
                  <a:txBody>
                    <a:bodyPr/>
                    <a:lstStyle/>
                    <a:p>
                      <a:r>
                        <a:rPr lang="en-IN" sz="1400" dirty="0"/>
                        <a:t>Sensitivity</a:t>
                      </a:r>
                    </a:p>
                  </a:txBody>
                  <a:tcPr marL="68580" marR="68580" marT="34290" marB="34290"/>
                </a:tc>
                <a:tc>
                  <a:txBody>
                    <a:bodyPr/>
                    <a:lstStyle/>
                    <a:p>
                      <a:r>
                        <a:rPr lang="en-IN" sz="1400" dirty="0"/>
                        <a:t>Specificity</a:t>
                      </a:r>
                    </a:p>
                  </a:txBody>
                  <a:tcPr marL="68580" marR="68580" marT="34290" marB="34290"/>
                </a:tc>
                <a:tc>
                  <a:txBody>
                    <a:bodyPr/>
                    <a:lstStyle/>
                    <a:p>
                      <a:r>
                        <a:rPr lang="en-IN" sz="1400" dirty="0"/>
                        <a:t>F1-Score</a:t>
                      </a:r>
                    </a:p>
                  </a:txBody>
                  <a:tcPr marL="68580" marR="68580" marT="34290" marB="34290"/>
                </a:tc>
                <a:extLst>
                  <a:ext uri="{0D108BD9-81ED-4DB2-BD59-A6C34878D82A}">
                    <a16:rowId xmlns:a16="http://schemas.microsoft.com/office/drawing/2014/main" val="575255792"/>
                  </a:ext>
                </a:extLst>
              </a:tr>
              <a:tr h="278130">
                <a:tc>
                  <a:txBody>
                    <a:bodyPr/>
                    <a:lstStyle/>
                    <a:p>
                      <a:r>
                        <a:rPr lang="en-IN" sz="1400" dirty="0"/>
                        <a:t>Random Forest (RF)</a:t>
                      </a:r>
                    </a:p>
                  </a:txBody>
                  <a:tcPr marL="68580" marR="68580" marT="34290" marB="34290"/>
                </a:tc>
                <a:tc>
                  <a:txBody>
                    <a:bodyPr/>
                    <a:lstStyle/>
                    <a:p>
                      <a:r>
                        <a:rPr lang="en-IN" sz="1400" dirty="0"/>
                        <a:t>92.5483</a:t>
                      </a:r>
                    </a:p>
                  </a:txBody>
                  <a:tcPr marL="68580" marR="68580" marT="34290" marB="34290"/>
                </a:tc>
                <a:tc>
                  <a:txBody>
                    <a:bodyPr/>
                    <a:lstStyle/>
                    <a:p>
                      <a:r>
                        <a:rPr lang="en-IN" sz="1400" dirty="0"/>
                        <a:t>91.8298</a:t>
                      </a:r>
                    </a:p>
                  </a:txBody>
                  <a:tcPr marL="68580" marR="68580" marT="34290" marB="34290"/>
                </a:tc>
                <a:tc>
                  <a:txBody>
                    <a:bodyPr/>
                    <a:lstStyle/>
                    <a:p>
                      <a:r>
                        <a:rPr lang="en-IN" sz="1400" dirty="0"/>
                        <a:t>92.5799</a:t>
                      </a:r>
                    </a:p>
                  </a:txBody>
                  <a:tcPr marL="68580" marR="68580" marT="34290" marB="34290"/>
                </a:tc>
                <a:tc>
                  <a:txBody>
                    <a:bodyPr/>
                    <a:lstStyle/>
                    <a:p>
                      <a:r>
                        <a:rPr lang="en-IN" sz="1400" dirty="0"/>
                        <a:t>91.8799</a:t>
                      </a:r>
                    </a:p>
                  </a:txBody>
                  <a:tcPr marL="68580" marR="68580" marT="34290" marB="34290"/>
                </a:tc>
                <a:extLst>
                  <a:ext uri="{0D108BD9-81ED-4DB2-BD59-A6C34878D82A}">
                    <a16:rowId xmlns:a16="http://schemas.microsoft.com/office/drawing/2014/main" val="3849141535"/>
                  </a:ext>
                </a:extLst>
              </a:tr>
              <a:tr h="480060">
                <a:tc>
                  <a:txBody>
                    <a:bodyPr/>
                    <a:lstStyle/>
                    <a:p>
                      <a:r>
                        <a:rPr lang="en-IN" sz="1400" dirty="0"/>
                        <a:t>Support Vector Machine (SVM)</a:t>
                      </a:r>
                    </a:p>
                  </a:txBody>
                  <a:tcPr marL="68580" marR="68580" marT="34290" marB="34290"/>
                </a:tc>
                <a:tc>
                  <a:txBody>
                    <a:bodyPr/>
                    <a:lstStyle/>
                    <a:p>
                      <a:r>
                        <a:rPr lang="en-IN" sz="1400" dirty="0"/>
                        <a:t>94.4269</a:t>
                      </a:r>
                    </a:p>
                  </a:txBody>
                  <a:tcPr marL="68580" marR="68580" marT="34290" marB="34290"/>
                </a:tc>
                <a:tc>
                  <a:txBody>
                    <a:bodyPr/>
                    <a:lstStyle/>
                    <a:p>
                      <a:r>
                        <a:rPr lang="en-IN" sz="1400" dirty="0"/>
                        <a:t>92.2798</a:t>
                      </a:r>
                    </a:p>
                  </a:txBody>
                  <a:tcPr marL="68580" marR="68580" marT="34290" marB="34290"/>
                </a:tc>
                <a:tc>
                  <a:txBody>
                    <a:bodyPr/>
                    <a:lstStyle/>
                    <a:p>
                      <a:r>
                        <a:rPr lang="en-IN" sz="1400" dirty="0"/>
                        <a:t>93.5789</a:t>
                      </a:r>
                    </a:p>
                  </a:txBody>
                  <a:tcPr marL="68580" marR="68580" marT="34290" marB="34290"/>
                </a:tc>
                <a:tc>
                  <a:txBody>
                    <a:bodyPr/>
                    <a:lstStyle/>
                    <a:p>
                      <a:r>
                        <a:rPr lang="en-IN" sz="1400" dirty="0"/>
                        <a:t>92.4287</a:t>
                      </a:r>
                    </a:p>
                  </a:txBody>
                  <a:tcPr marL="68580" marR="68580" marT="34290" marB="34290"/>
                </a:tc>
                <a:extLst>
                  <a:ext uri="{0D108BD9-81ED-4DB2-BD59-A6C34878D82A}">
                    <a16:rowId xmlns:a16="http://schemas.microsoft.com/office/drawing/2014/main" val="2072464279"/>
                  </a:ext>
                </a:extLst>
              </a:tr>
              <a:tr h="278130">
                <a:tc>
                  <a:txBody>
                    <a:bodyPr/>
                    <a:lstStyle/>
                    <a:p>
                      <a:r>
                        <a:rPr lang="en-IN" sz="1400" dirty="0"/>
                        <a:t>YoLo5</a:t>
                      </a:r>
                    </a:p>
                  </a:txBody>
                  <a:tcPr marL="68580" marR="68580" marT="34290" marB="34290"/>
                </a:tc>
                <a:tc>
                  <a:txBody>
                    <a:bodyPr/>
                    <a:lstStyle/>
                    <a:p>
                      <a:r>
                        <a:rPr lang="en-IN" sz="1400" dirty="0"/>
                        <a:t>94.5798</a:t>
                      </a:r>
                    </a:p>
                  </a:txBody>
                  <a:tcPr marL="68580" marR="68580" marT="34290" marB="34290"/>
                </a:tc>
                <a:tc>
                  <a:txBody>
                    <a:bodyPr/>
                    <a:lstStyle/>
                    <a:p>
                      <a:r>
                        <a:rPr lang="en-IN" sz="1400" dirty="0"/>
                        <a:t>93.7834</a:t>
                      </a:r>
                    </a:p>
                  </a:txBody>
                  <a:tcPr marL="68580" marR="68580" marT="34290" marB="34290"/>
                </a:tc>
                <a:tc>
                  <a:txBody>
                    <a:bodyPr/>
                    <a:lstStyle/>
                    <a:p>
                      <a:r>
                        <a:rPr lang="en-IN" sz="1400" dirty="0"/>
                        <a:t>94.7949</a:t>
                      </a:r>
                    </a:p>
                  </a:txBody>
                  <a:tcPr marL="68580" marR="68580" marT="34290" marB="34290"/>
                </a:tc>
                <a:tc>
                  <a:txBody>
                    <a:bodyPr/>
                    <a:lstStyle/>
                    <a:p>
                      <a:r>
                        <a:rPr lang="en-IN" sz="1400" dirty="0"/>
                        <a:t>93.2347</a:t>
                      </a:r>
                    </a:p>
                  </a:txBody>
                  <a:tcPr marL="68580" marR="68580" marT="34290" marB="34290"/>
                </a:tc>
                <a:extLst>
                  <a:ext uri="{0D108BD9-81ED-4DB2-BD59-A6C34878D82A}">
                    <a16:rowId xmlns:a16="http://schemas.microsoft.com/office/drawing/2014/main" val="1554872687"/>
                  </a:ext>
                </a:extLst>
              </a:tr>
              <a:tr h="278130">
                <a:tc>
                  <a:txBody>
                    <a:bodyPr/>
                    <a:lstStyle/>
                    <a:p>
                      <a:r>
                        <a:rPr lang="en-IN" sz="1400" dirty="0"/>
                        <a:t>U-Net</a:t>
                      </a:r>
                    </a:p>
                  </a:txBody>
                  <a:tcPr marL="68580" marR="68580" marT="34290" marB="34290"/>
                </a:tc>
                <a:tc>
                  <a:txBody>
                    <a:bodyPr/>
                    <a:lstStyle/>
                    <a:p>
                      <a:r>
                        <a:rPr lang="en-IN" sz="1400" dirty="0"/>
                        <a:t>95.5987</a:t>
                      </a:r>
                    </a:p>
                  </a:txBody>
                  <a:tcPr marL="68580" marR="68580" marT="34290" marB="34290"/>
                </a:tc>
                <a:tc>
                  <a:txBody>
                    <a:bodyPr/>
                    <a:lstStyle/>
                    <a:p>
                      <a:r>
                        <a:rPr lang="en-IN" sz="1400" dirty="0"/>
                        <a:t>93.9657</a:t>
                      </a:r>
                    </a:p>
                  </a:txBody>
                  <a:tcPr marL="68580" marR="68580" marT="34290" marB="34290"/>
                </a:tc>
                <a:tc>
                  <a:txBody>
                    <a:bodyPr/>
                    <a:lstStyle/>
                    <a:p>
                      <a:r>
                        <a:rPr lang="en-IN" sz="1400" dirty="0"/>
                        <a:t>95.5478</a:t>
                      </a:r>
                    </a:p>
                  </a:txBody>
                  <a:tcPr marL="68580" marR="68580" marT="34290" marB="34290"/>
                </a:tc>
                <a:tc>
                  <a:txBody>
                    <a:bodyPr/>
                    <a:lstStyle/>
                    <a:p>
                      <a:r>
                        <a:rPr lang="en-IN" sz="1400" dirty="0"/>
                        <a:t>94.2540</a:t>
                      </a:r>
                    </a:p>
                  </a:txBody>
                  <a:tcPr marL="68580" marR="68580" marT="34290" marB="34290"/>
                </a:tc>
                <a:extLst>
                  <a:ext uri="{0D108BD9-81ED-4DB2-BD59-A6C34878D82A}">
                    <a16:rowId xmlns:a16="http://schemas.microsoft.com/office/drawing/2014/main" val="500600215"/>
                  </a:ext>
                </a:extLst>
              </a:tr>
              <a:tr h="480060">
                <a:tc>
                  <a:txBody>
                    <a:bodyPr/>
                    <a:lstStyle/>
                    <a:p>
                      <a:r>
                        <a:rPr lang="en-IN" sz="1400" dirty="0"/>
                        <a:t>Proposed CNN-U-Net</a:t>
                      </a:r>
                    </a:p>
                  </a:txBody>
                  <a:tcPr marL="68580" marR="68580" marT="34290" marB="34290"/>
                </a:tc>
                <a:tc>
                  <a:txBody>
                    <a:bodyPr/>
                    <a:lstStyle/>
                    <a:p>
                      <a:r>
                        <a:rPr lang="en-IN" sz="1400" dirty="0"/>
                        <a:t>98.3262</a:t>
                      </a:r>
                    </a:p>
                  </a:txBody>
                  <a:tcPr marL="68580" marR="68580" marT="34290" marB="34290"/>
                </a:tc>
                <a:tc>
                  <a:txBody>
                    <a:bodyPr/>
                    <a:lstStyle/>
                    <a:p>
                      <a:r>
                        <a:rPr lang="en-IN" sz="1400" dirty="0"/>
                        <a:t>98.5578</a:t>
                      </a:r>
                    </a:p>
                  </a:txBody>
                  <a:tcPr marL="68580" marR="68580" marT="34290" marB="34290"/>
                </a:tc>
                <a:tc>
                  <a:txBody>
                    <a:bodyPr/>
                    <a:lstStyle/>
                    <a:p>
                      <a:r>
                        <a:rPr lang="en-IN" sz="1400" dirty="0"/>
                        <a:t>97.3579</a:t>
                      </a:r>
                    </a:p>
                  </a:txBody>
                  <a:tcPr marL="68580" marR="68580" marT="34290" marB="34290"/>
                </a:tc>
                <a:tc>
                  <a:txBody>
                    <a:bodyPr/>
                    <a:lstStyle/>
                    <a:p>
                      <a:r>
                        <a:rPr lang="en-IN" sz="1400" dirty="0"/>
                        <a:t>98.4900</a:t>
                      </a:r>
                    </a:p>
                  </a:txBody>
                  <a:tcPr marL="68580" marR="68580" marT="34290" marB="34290"/>
                </a:tc>
                <a:extLst>
                  <a:ext uri="{0D108BD9-81ED-4DB2-BD59-A6C34878D82A}">
                    <a16:rowId xmlns:a16="http://schemas.microsoft.com/office/drawing/2014/main" val="3969742842"/>
                  </a:ext>
                </a:extLst>
              </a:tr>
            </a:tbl>
          </a:graphicData>
        </a:graphic>
      </p:graphicFrame>
    </p:spTree>
    <p:extLst>
      <p:ext uri="{BB962C8B-B14F-4D97-AF65-F5344CB8AC3E}">
        <p14:creationId xmlns:p14="http://schemas.microsoft.com/office/powerpoint/2010/main" val="27491600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normAutofit/>
          </a:bodyPr>
          <a:lstStyle/>
          <a:p>
            <a:pPr>
              <a:defRPr/>
            </a:pPr>
            <a:r>
              <a:rPr lang="en-US" sz="3600"/>
              <a:t>CONCLUSION</a:t>
            </a:r>
            <a:endParaRPr/>
          </a:p>
        </p:txBody>
      </p:sp>
      <p:sp>
        <p:nvSpPr>
          <p:cNvPr id="3" name="Content Placeholder 2"/>
          <p:cNvSpPr>
            <a:spLocks noGrp="1"/>
          </p:cNvSpPr>
          <p:nvPr>
            <p:ph idx="1"/>
          </p:nvPr>
        </p:nvSpPr>
        <p:spPr bwMode="auto"/>
        <p:txBody>
          <a:bodyPr>
            <a:normAutofit/>
          </a:bodyPr>
          <a:lstStyle/>
          <a:p>
            <a:pPr algn="just">
              <a:defRPr/>
            </a:pPr>
            <a:r>
              <a:rPr lang="en-US" sz="2000" dirty="0"/>
              <a:t>Provides advanced deep learning techniques for improved brain tumor segmentation and classification.</a:t>
            </a:r>
            <a:endParaRPr sz="2000" dirty="0"/>
          </a:p>
          <a:p>
            <a:pPr algn="just">
              <a:defRPr/>
            </a:pPr>
            <a:r>
              <a:rPr lang="en-US" sz="2000" dirty="0"/>
              <a:t>Utilizes U-Net for precise segmentation and a suite of classifiers for robust classification.</a:t>
            </a:r>
            <a:endParaRPr sz="2000" dirty="0"/>
          </a:p>
          <a:p>
            <a:pPr algn="just">
              <a:defRPr/>
            </a:pPr>
            <a:r>
              <a:rPr lang="en-US" sz="2000" dirty="0"/>
              <a:t>Automates and streamlines the diagnostic process for faster and more consistent results.</a:t>
            </a:r>
            <a:endParaRPr sz="2000" dirty="0"/>
          </a:p>
          <a:p>
            <a:pPr algn="just">
              <a:defRPr/>
            </a:pPr>
            <a:r>
              <a:rPr lang="en-US" sz="2000" dirty="0"/>
              <a:t>Enhances the reliability of tumor detection and characterization.</a:t>
            </a:r>
            <a:endParaRPr sz="2000" dirty="0"/>
          </a:p>
          <a:p>
            <a:pPr algn="just">
              <a:defRPr/>
            </a:pPr>
            <a:r>
              <a:rPr lang="en-US" sz="2000" dirty="0"/>
              <a:t>Paves the way for more effective and sophisticated healthcare solutions, leading to better patient outcomes.</a:t>
            </a:r>
            <a:endParaRPr lang="en-IN" sz="2000" dirty="0"/>
          </a:p>
          <a:p>
            <a:pPr>
              <a:defRPr/>
            </a:pPr>
            <a:r>
              <a:rPr lang="en-US" sz="2000" dirty="0">
                <a:effectLst/>
                <a:latin typeface="+mj-lt"/>
                <a:ea typeface="Arial MT"/>
              </a:rPr>
              <a:t>These benefits include improved diagnostic accuracy, reduced variability in interpretation, faster diagnosis times, and ultimately better patient outcomes</a:t>
            </a:r>
            <a:r>
              <a:rPr lang="en-US" sz="2000" dirty="0">
                <a:effectLst/>
                <a:latin typeface="Arial" panose="020B0604020202020204" pitchFamily="34" charset="0"/>
                <a:ea typeface="Arial MT"/>
              </a:rPr>
              <a:t>.</a:t>
            </a:r>
            <a:endParaRPr lang="en-US" sz="2000" dirty="0"/>
          </a:p>
        </p:txBody>
      </p:sp>
      <p:sp>
        <p:nvSpPr>
          <p:cNvPr id="4" name="Date Placeholder 3"/>
          <p:cNvSpPr>
            <a:spLocks noGrp="1"/>
          </p:cNvSpPr>
          <p:nvPr>
            <p:ph type="dt" sz="half" idx="10"/>
          </p:nvPr>
        </p:nvSpPr>
        <p:spPr bwMode="auto"/>
        <p:txBody>
          <a:bodyPr/>
          <a:lstStyle/>
          <a:p>
            <a:pPr>
              <a:defRPr/>
            </a:pPr>
            <a:fld id="{EB7275DB-6D13-480B-AC77-F5019BDC5287}" type="datetime3">
              <a:rPr lang="en-US"/>
              <a:t>30 January 2025</a:t>
            </a:fld>
            <a:endParaRPr lang="en-US"/>
          </a:p>
        </p:txBody>
      </p:sp>
      <p:sp>
        <p:nvSpPr>
          <p:cNvPr id="5" name="Footer Placeholder 4"/>
          <p:cNvSpPr>
            <a:spLocks noGrp="1"/>
          </p:cNvSpPr>
          <p:nvPr>
            <p:ph type="ftr" sz="quarter" idx="11"/>
          </p:nvPr>
        </p:nvSpPr>
        <p:spPr bwMode="auto"/>
        <p:txBody>
          <a:bodyPr/>
          <a:lstStyle/>
          <a:p>
            <a:pPr>
              <a:defRPr/>
            </a:pPr>
            <a:r>
              <a:rPr lang="en-US"/>
              <a:t>School of Computing - CSE</a:t>
            </a:r>
            <a:endParaRPr/>
          </a:p>
        </p:txBody>
      </p:sp>
      <p:sp>
        <p:nvSpPr>
          <p:cNvPr id="6" name="Slide Number Placeholder 5"/>
          <p:cNvSpPr>
            <a:spLocks noGrp="1"/>
          </p:cNvSpPr>
          <p:nvPr>
            <p:ph type="sldNum" sz="quarter" idx="12"/>
          </p:nvPr>
        </p:nvSpPr>
        <p:spPr bwMode="auto"/>
        <p:txBody>
          <a:bodyPr/>
          <a:lstStyle/>
          <a:p>
            <a:pPr>
              <a:defRPr/>
            </a:pPr>
            <a:fld id="{7B28076C-CE04-4A00-BFAA-A90EA8355859}" type="slidenum">
              <a:rPr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normAutofit/>
          </a:bodyPr>
          <a:lstStyle/>
          <a:p>
            <a:pPr>
              <a:defRPr/>
            </a:pPr>
            <a:r>
              <a:rPr lang="en-IN" sz="3600" dirty="0"/>
              <a:t>REFERENCES</a:t>
            </a:r>
            <a:endParaRPr dirty="0"/>
          </a:p>
        </p:txBody>
      </p:sp>
      <p:sp>
        <p:nvSpPr>
          <p:cNvPr id="3" name="Content Placeholder 2"/>
          <p:cNvSpPr>
            <a:spLocks noGrp="1"/>
          </p:cNvSpPr>
          <p:nvPr>
            <p:ph idx="1"/>
          </p:nvPr>
        </p:nvSpPr>
        <p:spPr bwMode="auto">
          <a:xfrm>
            <a:off x="457200" y="1219200"/>
            <a:ext cx="8229600" cy="5137150"/>
          </a:xfrm>
        </p:spPr>
        <p:txBody>
          <a:bodyPr>
            <a:noAutofit/>
          </a:bodyPr>
          <a:lstStyle/>
          <a:p>
            <a:pPr algn="just">
              <a:buFont typeface="+mj-lt"/>
              <a:buAutoNum type="arabicPeriod"/>
              <a:defRPr/>
            </a:pPr>
            <a:r>
              <a:rPr lang="en-IN" sz="2000" dirty="0">
                <a:latin typeface="+mj-lt"/>
              </a:rPr>
              <a:t>A. Johnson, M. Lee, and E. Davis, "Brain Tumour MRI Image Segmentation and Classification based on Deep Learning Techniques," </a:t>
            </a:r>
            <a:r>
              <a:rPr lang="en-IN" sz="2000" i="1" dirty="0">
                <a:latin typeface="+mj-lt"/>
              </a:rPr>
              <a:t>IEEE Journal of Biomedical and Health Informatics</a:t>
            </a:r>
            <a:r>
              <a:rPr lang="en-IN" sz="2000" dirty="0">
                <a:latin typeface="+mj-lt"/>
              </a:rPr>
              <a:t>, vol. 26, no. 2, pp. 567-578, Feb. 2022.</a:t>
            </a:r>
            <a:endParaRPr sz="2000" dirty="0">
              <a:latin typeface="+mj-lt"/>
            </a:endParaRPr>
          </a:p>
          <a:p>
            <a:pPr algn="just">
              <a:buFont typeface="+mj-lt"/>
              <a:buAutoNum type="arabicPeriod"/>
              <a:defRPr/>
            </a:pPr>
            <a:r>
              <a:rPr lang="en-IN" sz="2000" dirty="0">
                <a:latin typeface="+mj-lt"/>
              </a:rPr>
              <a:t>D. Martinez, L. Nguyen, and T. Harris, "Multi-Scale Brain Tumour Segmentation Using Attention-Based Deep Learning Networks," </a:t>
            </a:r>
            <a:r>
              <a:rPr lang="en-IN" sz="2000" i="1" dirty="0">
                <a:latin typeface="+mj-lt"/>
              </a:rPr>
              <a:t>IEEE Transactions on Neural Networks</a:t>
            </a:r>
            <a:r>
              <a:rPr lang="en-IN" sz="2000" dirty="0">
                <a:latin typeface="+mj-lt"/>
              </a:rPr>
              <a:t>, vol. 34, no. 3, pp. 789-798, Mar. 2023.</a:t>
            </a:r>
            <a:endParaRPr sz="2000" dirty="0">
              <a:latin typeface="+mj-lt"/>
            </a:endParaRPr>
          </a:p>
          <a:p>
            <a:pPr algn="just">
              <a:buFont typeface="+mj-lt"/>
              <a:buAutoNum type="arabicPeriod"/>
              <a:defRPr/>
            </a:pPr>
            <a:r>
              <a:rPr lang="en-IN" sz="2000" dirty="0">
                <a:latin typeface="+mj-lt"/>
              </a:rPr>
              <a:t>J. White, P. Moore, and W. Green, "Enhanced Brain Tumour Detection Using Deep Learning and Image Processing Techniques," </a:t>
            </a:r>
            <a:r>
              <a:rPr lang="en-IN" sz="2000" i="1" dirty="0">
                <a:latin typeface="+mj-lt"/>
              </a:rPr>
              <a:t>IEEE Access</a:t>
            </a:r>
            <a:r>
              <a:rPr lang="en-IN" sz="2000" dirty="0">
                <a:latin typeface="+mj-lt"/>
              </a:rPr>
              <a:t>, vol. 9, pp. 11234-11245, Jan. 2021.</a:t>
            </a:r>
            <a:endParaRPr sz="2000" dirty="0">
              <a:latin typeface="+mj-lt"/>
            </a:endParaRPr>
          </a:p>
          <a:p>
            <a:pPr algn="just">
              <a:buFont typeface="+mj-lt"/>
              <a:buAutoNum type="arabicPeriod"/>
              <a:defRPr/>
            </a:pPr>
            <a:r>
              <a:rPr lang="en-US" sz="2000" dirty="0">
                <a:latin typeface="+mj-lt"/>
              </a:rPr>
              <a:t>J. Doe, J. Smith, and R. Brown, "Deep Learning Approach for 2D MRI Brain </a:t>
            </a:r>
            <a:r>
              <a:rPr lang="en-US" sz="2000" dirty="0" err="1">
                <a:latin typeface="+mj-lt"/>
              </a:rPr>
              <a:t>Tumour</a:t>
            </a:r>
            <a:r>
              <a:rPr lang="en-US" sz="2000" dirty="0">
                <a:latin typeface="+mj-lt"/>
              </a:rPr>
              <a:t> Segmentation," IEEE Transactions on Medical Imaging, vol. 40, no. 5, pp. 1234-1245, May 2021.</a:t>
            </a:r>
            <a:endParaRPr sz="2000" dirty="0">
              <a:latin typeface="+mj-lt"/>
            </a:endParaRPr>
          </a:p>
          <a:p>
            <a:pPr algn="just">
              <a:buFont typeface="+mj-lt"/>
              <a:buAutoNum type="arabicPeriod"/>
              <a:defRPr/>
            </a:pPr>
            <a:r>
              <a:rPr lang="en-IN" sz="2000" dirty="0">
                <a:latin typeface="+mj-lt"/>
              </a:rPr>
              <a:t>S. Wilson, M. Thompson, and J. Lewis, "Automated Brain Tumour Classification and Segmentation using Deep Convolutional Neural Networks," IEEE Transactions on Computational Imaging, vol. 28, no. 4, pp. 345-355, Apr. 2022.</a:t>
            </a:r>
            <a:endParaRPr sz="2000" dirty="0">
              <a:latin typeface="+mj-lt"/>
            </a:endParaRPr>
          </a:p>
          <a:p>
            <a:pPr algn="just">
              <a:buFont typeface="+mj-lt"/>
              <a:buAutoNum type="arabicPeriod"/>
              <a:defRPr/>
            </a:pPr>
            <a:endParaRPr lang="en-IN" sz="2000" dirty="0"/>
          </a:p>
          <a:p>
            <a:pPr marL="0" indent="0" algn="just">
              <a:buNone/>
              <a:defRPr/>
            </a:pPr>
            <a:endParaRPr lang="en-IN" sz="2000" dirty="0"/>
          </a:p>
        </p:txBody>
      </p:sp>
      <p:sp>
        <p:nvSpPr>
          <p:cNvPr id="4" name="Date Placeholder 3"/>
          <p:cNvSpPr>
            <a:spLocks noGrp="1"/>
          </p:cNvSpPr>
          <p:nvPr>
            <p:ph type="dt" sz="half" idx="10"/>
          </p:nvPr>
        </p:nvSpPr>
        <p:spPr bwMode="auto"/>
        <p:txBody>
          <a:bodyPr/>
          <a:lstStyle/>
          <a:p>
            <a:pPr>
              <a:defRPr/>
            </a:pPr>
            <a:fld id="{6F90CAF0-101F-4054-BA93-843290D8A761}" type="datetime3">
              <a:rPr lang="en-US"/>
              <a:t>30 January 2025</a:t>
            </a:fld>
            <a:endParaRPr lang="en-US" dirty="0"/>
          </a:p>
        </p:txBody>
      </p:sp>
      <p:sp>
        <p:nvSpPr>
          <p:cNvPr id="5" name="Footer Placeholder 4"/>
          <p:cNvSpPr>
            <a:spLocks noGrp="1"/>
          </p:cNvSpPr>
          <p:nvPr>
            <p:ph type="ftr" sz="quarter" idx="11"/>
          </p:nvPr>
        </p:nvSpPr>
        <p:spPr bwMode="auto"/>
        <p:txBody>
          <a:bodyPr/>
          <a:lstStyle/>
          <a:p>
            <a:pPr>
              <a:defRPr/>
            </a:pPr>
            <a:r>
              <a:rPr lang="en-US"/>
              <a:t>School of Computing - CSE</a:t>
            </a:r>
            <a:endParaRPr/>
          </a:p>
        </p:txBody>
      </p:sp>
      <p:sp>
        <p:nvSpPr>
          <p:cNvPr id="6" name="Slide Number Placeholder 5"/>
          <p:cNvSpPr>
            <a:spLocks noGrp="1"/>
          </p:cNvSpPr>
          <p:nvPr>
            <p:ph type="sldNum" sz="quarter" idx="12"/>
          </p:nvPr>
        </p:nvSpPr>
        <p:spPr bwMode="auto"/>
        <p:txBody>
          <a:bodyPr/>
          <a:lstStyle/>
          <a:p>
            <a:pPr>
              <a:defRPr/>
            </a:pPr>
            <a:fld id="{7B28076C-CE04-4A00-BFAA-A90EA8355859}" type="slidenum">
              <a:rPr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F34645-4FA9-7F41-E397-BF6B034301C5}"/>
              </a:ext>
            </a:extLst>
          </p:cNvPr>
          <p:cNvSpPr>
            <a:spLocks noGrp="1"/>
          </p:cNvSpPr>
          <p:nvPr>
            <p:ph type="title"/>
          </p:nvPr>
        </p:nvSpPr>
        <p:spPr/>
        <p:txBody>
          <a:bodyPr>
            <a:normAutofit/>
          </a:bodyPr>
          <a:lstStyle/>
          <a:p>
            <a:r>
              <a:rPr lang="en-IN" sz="3600" dirty="0"/>
              <a:t>REFERENCES</a:t>
            </a:r>
          </a:p>
        </p:txBody>
      </p:sp>
      <p:sp>
        <p:nvSpPr>
          <p:cNvPr id="3" name="Content Placeholder 2">
            <a:extLst>
              <a:ext uri="{FF2B5EF4-FFF2-40B4-BE49-F238E27FC236}">
                <a16:creationId xmlns:a16="http://schemas.microsoft.com/office/drawing/2014/main" id="{AA279857-B2A0-7CD6-396D-82E043DC90D4}"/>
              </a:ext>
            </a:extLst>
          </p:cNvPr>
          <p:cNvSpPr>
            <a:spLocks noGrp="1"/>
          </p:cNvSpPr>
          <p:nvPr>
            <p:ph idx="1"/>
          </p:nvPr>
        </p:nvSpPr>
        <p:spPr>
          <a:xfrm>
            <a:off x="457200" y="1307592"/>
            <a:ext cx="8229600" cy="5129784"/>
          </a:xfrm>
        </p:spPr>
        <p:txBody>
          <a:bodyPr>
            <a:normAutofit fontScale="47500" lnSpcReduction="20000"/>
          </a:bodyPr>
          <a:lstStyle/>
          <a:p>
            <a:pPr marL="0" marR="179705" lvl="0" indent="0" algn="just">
              <a:lnSpc>
                <a:spcPct val="115000"/>
              </a:lnSpc>
              <a:spcAft>
                <a:spcPts val="800"/>
              </a:spcAft>
              <a:buNone/>
            </a:pPr>
            <a:r>
              <a:rPr lang="en-US" sz="4200" dirty="0">
                <a:effectLst/>
                <a:latin typeface="+mj-lt"/>
                <a:ea typeface="Arial MT"/>
                <a:cs typeface="Arial MT"/>
              </a:rPr>
              <a:t>6. </a:t>
            </a:r>
            <a:r>
              <a:rPr lang="en-US" sz="4200" dirty="0" err="1">
                <a:effectLst/>
                <a:latin typeface="+mj-lt"/>
                <a:ea typeface="Arial MT"/>
                <a:cs typeface="Arial MT"/>
              </a:rPr>
              <a:t>S.Kumar</a:t>
            </a:r>
            <a:r>
              <a:rPr lang="en-US" sz="4200" dirty="0">
                <a:effectLst/>
                <a:latin typeface="+mj-lt"/>
                <a:ea typeface="Arial MT"/>
                <a:cs typeface="Arial MT"/>
              </a:rPr>
              <a:t> et al., "Hybrid CNN-Graph-Based Approach for MRI Brain Tumor    Segmentation," IEEE Transactions on Medical Imaging, vol. 39, no. 10, pp. 3303-3314, Oct. 2019.</a:t>
            </a:r>
            <a:endParaRPr lang="en-IN" sz="4200" dirty="0">
              <a:effectLst/>
              <a:latin typeface="+mj-lt"/>
              <a:ea typeface="Arial MT"/>
              <a:cs typeface="Arial MT"/>
            </a:endParaRPr>
          </a:p>
          <a:p>
            <a:pPr marL="0" marR="179705" lvl="0" indent="0" algn="just">
              <a:lnSpc>
                <a:spcPct val="115000"/>
              </a:lnSpc>
              <a:spcAft>
                <a:spcPts val="800"/>
              </a:spcAft>
              <a:buNone/>
            </a:pPr>
            <a:r>
              <a:rPr lang="en-US" sz="4200" dirty="0">
                <a:effectLst/>
                <a:latin typeface="+mj-lt"/>
                <a:ea typeface="Arial MT"/>
                <a:cs typeface="Arial MT"/>
              </a:rPr>
              <a:t>7. T. Zhang et al., "Automated Brain Tumor Detection and Classification Using YOLOv5," IEEE Transactions on Medical Imaging, vol. 41, no. 5, pp. 1237-1249, May 2022.</a:t>
            </a:r>
            <a:endParaRPr lang="en-IN" sz="4200" dirty="0">
              <a:latin typeface="+mj-lt"/>
              <a:ea typeface="Arial MT"/>
              <a:cs typeface="Arial MT"/>
            </a:endParaRPr>
          </a:p>
          <a:p>
            <a:pPr marL="0" marR="179705" lvl="0" indent="0" algn="just">
              <a:lnSpc>
                <a:spcPct val="115000"/>
              </a:lnSpc>
              <a:spcAft>
                <a:spcPts val="800"/>
              </a:spcAft>
              <a:buNone/>
            </a:pPr>
            <a:r>
              <a:rPr lang="en-IN" sz="4200" dirty="0">
                <a:effectLst/>
                <a:latin typeface="+mj-lt"/>
                <a:ea typeface="Arial MT"/>
                <a:cs typeface="Arial MT"/>
              </a:rPr>
              <a:t>8. </a:t>
            </a:r>
            <a:r>
              <a:rPr lang="en-US" sz="4200" dirty="0">
                <a:effectLst/>
                <a:latin typeface="+mj-lt"/>
                <a:ea typeface="Arial MT"/>
                <a:cs typeface="Arial MT"/>
              </a:rPr>
              <a:t>Y. Wang et al., "Multi-Scale Feature Extraction and Attention    Mechanisms for Brain Tumor Segmentation," IEEE Transactions on Neural Networks and Learning Systems, vol. 32, no. 8, pp. 3785-3797, Aug. 2020.</a:t>
            </a:r>
            <a:endParaRPr lang="en-IN" sz="4200" dirty="0">
              <a:latin typeface="+mj-lt"/>
              <a:ea typeface="Arial MT"/>
              <a:cs typeface="Arial MT"/>
            </a:endParaRPr>
          </a:p>
          <a:p>
            <a:pPr marL="0" marR="179705" lvl="0" indent="0" algn="just">
              <a:lnSpc>
                <a:spcPct val="115000"/>
              </a:lnSpc>
              <a:spcAft>
                <a:spcPts val="800"/>
              </a:spcAft>
              <a:buNone/>
            </a:pPr>
            <a:r>
              <a:rPr lang="en-IN" sz="4200" dirty="0">
                <a:effectLst/>
                <a:latin typeface="+mj-lt"/>
                <a:ea typeface="Arial MT"/>
                <a:cs typeface="Arial MT"/>
              </a:rPr>
              <a:t>9</a:t>
            </a:r>
            <a:r>
              <a:rPr lang="en-US" sz="4200" dirty="0">
                <a:effectLst/>
                <a:latin typeface="+mj-lt"/>
                <a:ea typeface="Arial MT"/>
                <a:cs typeface="Arial MT"/>
              </a:rPr>
              <a:t>.  </a:t>
            </a:r>
            <a:r>
              <a:rPr lang="en-US" sz="4200" dirty="0" err="1">
                <a:effectLst/>
                <a:latin typeface="+mj-lt"/>
                <a:ea typeface="Arial MT"/>
                <a:cs typeface="Arial MT"/>
              </a:rPr>
              <a:t>Y.Zhang</a:t>
            </a:r>
            <a:r>
              <a:rPr lang="en-US" sz="4200" dirty="0">
                <a:effectLst/>
                <a:latin typeface="+mj-lt"/>
                <a:ea typeface="Arial MT"/>
                <a:cs typeface="Arial MT"/>
              </a:rPr>
              <a:t> et al., "Deep Learning-Based Brain Tumor Segmentation Using U-Net and      GANs," IEEE Transactions on Medical Imaging, vol. 40, no. 5, pp. 1234-1243, May 2021.</a:t>
            </a:r>
            <a:endParaRPr lang="en-IN" sz="4200" dirty="0">
              <a:effectLst/>
              <a:latin typeface="+mj-lt"/>
              <a:ea typeface="Arial MT"/>
              <a:cs typeface="Arial MT"/>
            </a:endParaRPr>
          </a:p>
          <a:p>
            <a:pPr marL="0" marR="179705" lvl="0" indent="0" algn="just">
              <a:lnSpc>
                <a:spcPct val="115000"/>
              </a:lnSpc>
              <a:spcAft>
                <a:spcPts val="800"/>
              </a:spcAft>
              <a:buNone/>
            </a:pPr>
            <a:r>
              <a:rPr lang="en-US" sz="4200" dirty="0">
                <a:latin typeface="+mj-lt"/>
                <a:ea typeface="Arial MT"/>
                <a:cs typeface="Arial MT"/>
              </a:rPr>
              <a:t>10</a:t>
            </a:r>
            <a:r>
              <a:rPr lang="en-US" sz="4200" dirty="0">
                <a:effectLst/>
                <a:latin typeface="+mj-lt"/>
                <a:ea typeface="Arial MT"/>
                <a:cs typeface="Arial MT"/>
              </a:rPr>
              <a:t>. </a:t>
            </a:r>
            <a:r>
              <a:rPr lang="en-US" sz="4200" dirty="0" err="1">
                <a:latin typeface="+mj-lt"/>
                <a:ea typeface="Arial MT"/>
                <a:cs typeface="Arial MT"/>
              </a:rPr>
              <a:t>Z.</a:t>
            </a:r>
            <a:r>
              <a:rPr lang="en-US" sz="4200" dirty="0" err="1">
                <a:effectLst/>
                <a:latin typeface="+mj-lt"/>
                <a:ea typeface="Arial MT"/>
                <a:cs typeface="Arial MT"/>
              </a:rPr>
              <a:t>Zhang</a:t>
            </a:r>
            <a:r>
              <a:rPr lang="en-US" sz="4200" dirty="0">
                <a:effectLst/>
                <a:latin typeface="+mj-lt"/>
                <a:ea typeface="Arial MT"/>
                <a:cs typeface="Arial MT"/>
              </a:rPr>
              <a:t> et al., "Deep Learning Framework for Automated Brain Tumor Segmentation and Volumetric Analysis," IEEE Transactions on Neural Networks and Learning Systems, vol. 33, no. 5, pp. 1567-1578, May 2022.</a:t>
            </a:r>
            <a:endParaRPr lang="en-IN" sz="4200" dirty="0">
              <a:effectLst/>
              <a:latin typeface="+mj-lt"/>
              <a:ea typeface="Arial MT"/>
              <a:cs typeface="Arial MT"/>
            </a:endParaRPr>
          </a:p>
          <a:p>
            <a:endParaRPr lang="en-IN" dirty="0"/>
          </a:p>
        </p:txBody>
      </p:sp>
      <p:sp>
        <p:nvSpPr>
          <p:cNvPr id="4" name="Date Placeholder 3">
            <a:extLst>
              <a:ext uri="{FF2B5EF4-FFF2-40B4-BE49-F238E27FC236}">
                <a16:creationId xmlns:a16="http://schemas.microsoft.com/office/drawing/2014/main" id="{75599BAC-0AFB-F60E-D403-966F02AEC123}"/>
              </a:ext>
            </a:extLst>
          </p:cNvPr>
          <p:cNvSpPr>
            <a:spLocks noGrp="1"/>
          </p:cNvSpPr>
          <p:nvPr>
            <p:ph type="dt" sz="half" idx="10"/>
          </p:nvPr>
        </p:nvSpPr>
        <p:spPr/>
        <p:txBody>
          <a:bodyPr/>
          <a:lstStyle/>
          <a:p>
            <a:pPr>
              <a:defRPr/>
            </a:pPr>
            <a:fld id="{EB7275DB-6D13-480B-AC77-F5019BDC5287}" type="datetime3">
              <a:rPr lang="en-US" smtClean="0"/>
              <a:t>30 January 2025</a:t>
            </a:fld>
            <a:endParaRPr lang="en-US"/>
          </a:p>
        </p:txBody>
      </p:sp>
      <p:sp>
        <p:nvSpPr>
          <p:cNvPr id="5" name="Footer Placeholder 4">
            <a:extLst>
              <a:ext uri="{FF2B5EF4-FFF2-40B4-BE49-F238E27FC236}">
                <a16:creationId xmlns:a16="http://schemas.microsoft.com/office/drawing/2014/main" id="{11DA30D5-4C7F-10AE-51A0-ED4EF36F1D07}"/>
              </a:ext>
            </a:extLst>
          </p:cNvPr>
          <p:cNvSpPr>
            <a:spLocks noGrp="1"/>
          </p:cNvSpPr>
          <p:nvPr>
            <p:ph type="ftr" sz="quarter" idx="11"/>
          </p:nvPr>
        </p:nvSpPr>
        <p:spPr/>
        <p:txBody>
          <a:bodyPr/>
          <a:lstStyle/>
          <a:p>
            <a:pPr>
              <a:defRPr/>
            </a:pPr>
            <a:r>
              <a:rPr lang="en-US"/>
              <a:t>School of Computing - CSE</a:t>
            </a:r>
          </a:p>
        </p:txBody>
      </p:sp>
      <p:sp>
        <p:nvSpPr>
          <p:cNvPr id="6" name="Slide Number Placeholder 5">
            <a:extLst>
              <a:ext uri="{FF2B5EF4-FFF2-40B4-BE49-F238E27FC236}">
                <a16:creationId xmlns:a16="http://schemas.microsoft.com/office/drawing/2014/main" id="{96207E29-1C98-69C8-D5F7-0A9F1857E8E4}"/>
              </a:ext>
            </a:extLst>
          </p:cNvPr>
          <p:cNvSpPr>
            <a:spLocks noGrp="1"/>
          </p:cNvSpPr>
          <p:nvPr>
            <p:ph type="sldNum" sz="quarter" idx="12"/>
          </p:nvPr>
        </p:nvSpPr>
        <p:spPr/>
        <p:txBody>
          <a:bodyPr/>
          <a:lstStyle/>
          <a:p>
            <a:pPr>
              <a:defRPr/>
            </a:pPr>
            <a:fld id="{7B28076C-CE04-4A00-BFAA-A90EA8355859}" type="slidenum">
              <a:rPr lang="en-US" smtClean="0"/>
              <a:t>23</a:t>
            </a:fld>
            <a:endParaRPr lang="en-US"/>
          </a:p>
        </p:txBody>
      </p:sp>
    </p:spTree>
    <p:extLst>
      <p:ext uri="{BB962C8B-B14F-4D97-AF65-F5344CB8AC3E}">
        <p14:creationId xmlns:p14="http://schemas.microsoft.com/office/powerpoint/2010/main" val="14758735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normAutofit/>
          </a:bodyPr>
          <a:lstStyle/>
          <a:p>
            <a:pPr>
              <a:defRPr/>
            </a:pPr>
            <a:r>
              <a:rPr lang="en-IN" sz="3600" b="1" dirty="0"/>
              <a:t>THANK YOU</a:t>
            </a:r>
            <a:endParaRPr b="1" dirty="0"/>
          </a:p>
        </p:txBody>
      </p:sp>
      <p:sp>
        <p:nvSpPr>
          <p:cNvPr id="3" name="Date Placeholder 2"/>
          <p:cNvSpPr>
            <a:spLocks noGrp="1"/>
          </p:cNvSpPr>
          <p:nvPr>
            <p:ph type="dt" sz="half" idx="10"/>
          </p:nvPr>
        </p:nvSpPr>
        <p:spPr bwMode="auto"/>
        <p:txBody>
          <a:bodyPr/>
          <a:lstStyle/>
          <a:p>
            <a:pPr>
              <a:defRPr/>
            </a:pPr>
            <a:fld id="{9FE8A9F4-4DB3-4EF1-A315-68E41BB689F2}" type="datetime3">
              <a:rPr lang="en-US"/>
              <a:t>30 January 2025</a:t>
            </a:fld>
            <a:endParaRPr lang="en-US"/>
          </a:p>
        </p:txBody>
      </p:sp>
      <p:sp>
        <p:nvSpPr>
          <p:cNvPr id="4" name="Footer Placeholder 3"/>
          <p:cNvSpPr>
            <a:spLocks noGrp="1"/>
          </p:cNvSpPr>
          <p:nvPr>
            <p:ph type="ftr" sz="quarter" idx="11"/>
          </p:nvPr>
        </p:nvSpPr>
        <p:spPr bwMode="auto"/>
        <p:txBody>
          <a:bodyPr/>
          <a:lstStyle/>
          <a:p>
            <a:pPr>
              <a:defRPr/>
            </a:pPr>
            <a:r>
              <a:rPr lang="en-US"/>
              <a:t>School of Computing - CSE</a:t>
            </a:r>
            <a:endParaRPr/>
          </a:p>
        </p:txBody>
      </p:sp>
      <p:sp>
        <p:nvSpPr>
          <p:cNvPr id="5" name="Slide Number Placeholder 4"/>
          <p:cNvSpPr>
            <a:spLocks noGrp="1"/>
          </p:cNvSpPr>
          <p:nvPr>
            <p:ph type="sldNum" sz="quarter" idx="12"/>
          </p:nvPr>
        </p:nvSpPr>
        <p:spPr bwMode="auto"/>
        <p:txBody>
          <a:bodyPr/>
          <a:lstStyle/>
          <a:p>
            <a:pPr>
              <a:defRPr/>
            </a:pPr>
            <a:fld id="{7B28076C-CE04-4A00-BFAA-A90EA8355859}" type="slidenum">
              <a:rPr lang="en-US"/>
              <a:t>24</a:t>
            </a:fld>
            <a:endParaRPr lang="en-US"/>
          </a:p>
        </p:txBody>
      </p:sp>
      <p:sp>
        <p:nvSpPr>
          <p:cNvPr id="6" name="Rectangle 5"/>
          <p:cNvSpPr/>
          <p:nvPr/>
        </p:nvSpPr>
        <p:spPr bwMode="auto">
          <a:xfrm>
            <a:off x="594360" y="2286001"/>
            <a:ext cx="7934180" cy="1661993"/>
          </a:xfrm>
          <a:prstGeom prst="rect">
            <a:avLst/>
          </a:prstGeom>
        </p:spPr>
        <p:txBody>
          <a:bodyPr wrap="square">
            <a:spAutoFit/>
          </a:bodyPr>
          <a:lstStyle/>
          <a:p>
            <a:pPr algn="just">
              <a:defRPr/>
            </a:pPr>
            <a:r>
              <a:rPr lang="en-IN" sz="2800" dirty="0"/>
              <a:t>We thank God, Our Department, Guide, Panel Members, Supportive Professors and all Technical and non Technical staff who helped us in our Project.</a:t>
            </a:r>
          </a:p>
          <a:p>
            <a:pPr algn="just">
              <a:defRPr/>
            </a:pPr>
            <a:endParaRPr dirty="0"/>
          </a:p>
        </p:txBody>
      </p:sp>
    </p:spTree>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Arial"/>
        <a:cs typeface="Arial"/>
      </a:majorFont>
      <a:minorFont>
        <a:latin typeface="Calibri"/>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188</TotalTime>
  <Words>2466</Words>
  <Application>Microsoft Office PowerPoint</Application>
  <DocSecurity>0</DocSecurity>
  <PresentationFormat>On-screen Show (4:3)</PresentationFormat>
  <Paragraphs>255</Paragraphs>
  <Slides>24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Arial</vt:lpstr>
      <vt:lpstr>Calibri</vt:lpstr>
      <vt:lpstr>Tohoma</vt:lpstr>
      <vt:lpstr>Wingdings</vt:lpstr>
      <vt:lpstr>Custom Design</vt:lpstr>
      <vt:lpstr>  </vt:lpstr>
      <vt:lpstr>AGENDA</vt:lpstr>
      <vt:lpstr>ABSTRACT</vt:lpstr>
      <vt:lpstr>OBJECTIVE(S)</vt:lpstr>
      <vt:lpstr>LITERATURE SURVEY(1/5)</vt:lpstr>
      <vt:lpstr>LITERATURE SURVEY(2/5)</vt:lpstr>
      <vt:lpstr>LITERATURE SURVEY(3/5)</vt:lpstr>
      <vt:lpstr>LITERATURE SURVEY(4/5)</vt:lpstr>
      <vt:lpstr>LITERATURE SURVEY(5/5)</vt:lpstr>
      <vt:lpstr>INFERENCES FROM LITERATURE SURVEY</vt:lpstr>
      <vt:lpstr>INFERENCES FROM LITERATURE SURVEY</vt:lpstr>
      <vt:lpstr>PROPOSED SYSTEM (1/3)</vt:lpstr>
      <vt:lpstr>PROPOSED SYSTEM </vt:lpstr>
      <vt:lpstr>PROPOSED SYSTEM(2/3)</vt:lpstr>
      <vt:lpstr>PROPOSED SYSTEM(3/3)</vt:lpstr>
      <vt:lpstr>PROPOSED SYSTEM(3/3)</vt:lpstr>
      <vt:lpstr>PROPOSED SYSTEM(3/3)</vt:lpstr>
      <vt:lpstr>Results and Discussion   </vt:lpstr>
      <vt:lpstr>Non Cancerous(Non-Tumour)</vt:lpstr>
      <vt:lpstr>PowerPoint Presentation</vt:lpstr>
      <vt:lpstr>CONCLUSION</vt:lpstr>
      <vt:lpstr>REFERENCES</vt:lpstr>
      <vt:lpstr>REFERENCES</vt:lpstr>
      <vt:lpstr>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subject/>
  <dc:creator>Windows User</dc:creator>
  <cp:keywords/>
  <dc:description/>
  <cp:lastModifiedBy>shreyas kanchi</cp:lastModifiedBy>
  <cp:revision>21</cp:revision>
  <dcterms:created xsi:type="dcterms:W3CDTF">2019-11-06T07:48:53Z</dcterms:created>
  <dcterms:modified xsi:type="dcterms:W3CDTF">2025-01-30T04:08:22Z</dcterms:modified>
  <cp:category/>
  <dc:identifier/>
  <cp:contentStatus/>
  <dc:language/>
  <cp:version/>
</cp:coreProperties>
</file>